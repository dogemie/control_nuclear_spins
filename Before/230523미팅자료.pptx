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6" r:id="rId8"/>
    <p:sldId id="264" r:id="rId9"/>
    <p:sldId id="268" r:id="rId10"/>
    <p:sldId id="270" r:id="rId11"/>
    <p:sldId id="274" r:id="rId12"/>
    <p:sldId id="271" r:id="rId13"/>
    <p:sldId id="278" r:id="rId14"/>
    <p:sldId id="272" r:id="rId15"/>
    <p:sldId id="279" r:id="rId16"/>
    <p:sldId id="280" r:id="rId17"/>
    <p:sldId id="281" r:id="rId18"/>
    <p:sldId id="287" r:id="rId19"/>
    <p:sldId id="282" r:id="rId20"/>
    <p:sldId id="285" r:id="rId21"/>
    <p:sldId id="273" r:id="rId22"/>
    <p:sldId id="284" r:id="rId23"/>
    <p:sldId id="275" r:id="rId24"/>
    <p:sldId id="276" r:id="rId25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1"/>
    <p:restoredTop sz="96327"/>
  </p:normalViewPr>
  <p:slideViewPr>
    <p:cSldViewPr snapToGrid="0">
      <p:cViewPr varScale="1">
        <p:scale>
          <a:sx n="126" d="100"/>
          <a:sy n="126" d="100"/>
        </p:scale>
        <p:origin x="2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4D30E-EAA0-6545-BC99-6C6B96361876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921C-8796-474B-A236-0E3C88D21FB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6879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안녕하십니까</a:t>
            </a:r>
            <a:r>
              <a:rPr kumimoji="1" lang="en-US" altLang="ko-Kore-KR" dirty="0"/>
              <a:t>.</a:t>
            </a:r>
            <a:r>
              <a:rPr kumimoji="1" lang="ko-KR" altLang="en-US" dirty="0"/>
              <a:t> 저는 이정현 박사님 밑에서 공부하고 있는 인턴 </a:t>
            </a:r>
            <a:r>
              <a:rPr kumimoji="1" lang="ko-KR" altLang="en-US" dirty="0" err="1"/>
              <a:t>하규원입니다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오늘 제가 발표할 주제는 </a:t>
            </a:r>
            <a:r>
              <a:rPr kumimoji="1" lang="en-US" altLang="ko-KR" dirty="0"/>
              <a:t>time-optimal </a:t>
            </a:r>
            <a:r>
              <a:rPr kumimoji="1" lang="en-US" altLang="ko-KR" dirty="0" err="1"/>
              <a:t>nv</a:t>
            </a:r>
            <a:r>
              <a:rPr kumimoji="1" lang="en-US" altLang="ko-KR" dirty="0"/>
              <a:t>-spin control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18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발표에</a:t>
            </a:r>
            <a:r>
              <a:rPr kumimoji="1" lang="ko-KR" altLang="en-US" dirty="0"/>
              <a:t> 앞서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제가 진항하고 있는 일의 개요를 말씀드리겠습니다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spin</a:t>
            </a:r>
            <a:r>
              <a:rPr kumimoji="1" lang="ko-KR" altLang="en-US" dirty="0"/>
              <a:t>을 초기화하고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entanling</a:t>
            </a:r>
            <a:r>
              <a:rPr kumimoji="1" lang="en-US" altLang="ko-KR" dirty="0"/>
              <a:t> gate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취하는 등의 문제에서 항상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 </a:t>
            </a:r>
            <a:r>
              <a:rPr kumimoji="1" lang="en-US" altLang="ko-KR" dirty="0"/>
              <a:t>control</a:t>
            </a:r>
            <a:r>
              <a:rPr kumimoji="1" lang="ko-KR" altLang="en-US" dirty="0"/>
              <a:t>이 필요합니다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이때 시간이 적게 걸리고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정확한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의 구현을 하는 것이 저의 목표입니다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따라서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spin control</a:t>
            </a:r>
            <a:r>
              <a:rPr kumimoji="1" lang="ko-KR" altLang="en-US" dirty="0"/>
              <a:t>을 위한 최적의 방법론을 찾고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이를 </a:t>
            </a:r>
            <a:r>
              <a:rPr kumimoji="1" lang="en-US" altLang="ko-KR" dirty="0"/>
              <a:t>ML</a:t>
            </a:r>
            <a:r>
              <a:rPr kumimoji="1" lang="ko-KR" altLang="en-US" dirty="0"/>
              <a:t>을 통해 연산 속도를 향상 시키고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마지막으로 실제 실험에 적용하는 것이 전체적인 개요입니다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16971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빨간색</a:t>
            </a:r>
            <a:r>
              <a:rPr kumimoji="1" lang="ko-KR" altLang="en-US" dirty="0"/>
              <a:t> 화살표는 </a:t>
            </a:r>
            <a:r>
              <a:rPr kumimoji="1" lang="en-US" altLang="ko-KR" dirty="0"/>
              <a:t>0</a:t>
            </a:r>
            <a:r>
              <a:rPr kumimoji="1" lang="ko-KR" altLang="en-US" dirty="0"/>
              <a:t> 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로 초기화 되어있는 </a:t>
            </a:r>
            <a:r>
              <a:rPr kumimoji="1" lang="en-US" altLang="ko-KR" dirty="0"/>
              <a:t>spin</a:t>
            </a:r>
            <a:r>
              <a:rPr kumimoji="1" lang="ko-KR" altLang="en-US" dirty="0"/>
              <a:t>을 </a:t>
            </a:r>
            <a:r>
              <a:rPr kumimoji="1" lang="en-US" altLang="ko-KR" dirty="0" err="1"/>
              <a:t>bloch</a:t>
            </a:r>
            <a:r>
              <a:rPr kumimoji="1" lang="en-US" altLang="ko-KR" dirty="0"/>
              <a:t> sphere</a:t>
            </a:r>
            <a:r>
              <a:rPr kumimoji="1" lang="ko-KR" altLang="en-US" dirty="0"/>
              <a:t>에 나타낸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0 state</a:t>
            </a:r>
            <a:r>
              <a:rPr kumimoji="1" lang="ko-KR" altLang="en-US" dirty="0"/>
              <a:t>로 초기화 되어있는 </a:t>
            </a:r>
            <a:r>
              <a:rPr kumimoji="1" lang="en-US" altLang="ko-KR" dirty="0"/>
              <a:t>spin</a:t>
            </a:r>
            <a:r>
              <a:rPr kumimoji="1" lang="ko-KR" altLang="en-US" dirty="0"/>
              <a:t>을 최단시간내에 정확하게 원하는 위치로 보내는 방법을 개발하고 있습니다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우선은 </a:t>
            </a:r>
            <a:r>
              <a:rPr kumimoji="1" lang="en-US" altLang="ko-KR" dirty="0"/>
              <a:t>single qubit</a:t>
            </a:r>
            <a:r>
              <a:rPr kumimoji="1" lang="ko-KR" altLang="en-US" dirty="0"/>
              <a:t> </a:t>
            </a:r>
            <a:r>
              <a:rPr kumimoji="1" lang="en-US" altLang="ko-KR" dirty="0"/>
              <a:t>level</a:t>
            </a:r>
            <a:r>
              <a:rPr kumimoji="1" lang="ko-KR" altLang="en-US" dirty="0"/>
              <a:t>에서 프로젝트를 성공한 뒤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13carbon</a:t>
            </a:r>
            <a:r>
              <a:rPr kumimoji="1" lang="ko-KR" altLang="en-US" dirty="0" err="1"/>
              <a:t>핵스핀과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nv</a:t>
            </a:r>
            <a:r>
              <a:rPr kumimoji="1" lang="en-US" altLang="ko-KR" dirty="0"/>
              <a:t> spin</a:t>
            </a:r>
            <a:r>
              <a:rPr kumimoji="1" lang="ko-KR" altLang="en-US" dirty="0"/>
              <a:t>을 동시에 컨트롤 하는 경우에 적용해 볼 예정입니다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850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72731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따라서</a:t>
            </a:r>
            <a:r>
              <a:rPr kumimoji="1" lang="ko-KR" altLang="en-US" dirty="0"/>
              <a:t> 스핀에 영향을 주는 </a:t>
            </a:r>
            <a:r>
              <a:rPr kumimoji="1" lang="ko-KR" altLang="en-US" dirty="0" err="1"/>
              <a:t>해밀토니안은</a:t>
            </a:r>
            <a:r>
              <a:rPr kumimoji="1" lang="ko-KR" altLang="en-US" dirty="0"/>
              <a:t> 다음과 같이 나타낼 수 잇습니다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 err="1"/>
              <a:t>디튜닝에</a:t>
            </a:r>
            <a:r>
              <a:rPr kumimoji="1" lang="ko-KR" altLang="en-US" dirty="0"/>
              <a:t> 의해 발생하는 </a:t>
            </a:r>
            <a:r>
              <a:rPr kumimoji="1" lang="en-US" altLang="ko-KR" dirty="0" err="1"/>
              <a:t>Hd</a:t>
            </a:r>
            <a:r>
              <a:rPr kumimoji="1" lang="ko-KR" altLang="en-US" dirty="0"/>
              <a:t>와</a:t>
            </a:r>
            <a:endParaRPr kumimoji="1" lang="en-US" altLang="ko-KR" dirty="0"/>
          </a:p>
          <a:p>
            <a:r>
              <a:rPr kumimoji="1" lang="ko-KR" altLang="en-US" dirty="0"/>
              <a:t>펄스 컨트롤에 의해 형성되는 </a:t>
            </a:r>
            <a:r>
              <a:rPr kumimoji="1" lang="en-US" altLang="ko-KR" dirty="0" err="1"/>
              <a:t>Hc</a:t>
            </a:r>
            <a:r>
              <a:rPr kumimoji="1" lang="en-US" altLang="ko-KR" dirty="0"/>
              <a:t>(t)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이때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d0</a:t>
            </a:r>
            <a:r>
              <a:rPr kumimoji="1" lang="ko-KR" altLang="en-US" dirty="0"/>
              <a:t>는 상수이고</a:t>
            </a:r>
            <a:r>
              <a:rPr kumimoji="1" lang="en-US" altLang="ko-KR" dirty="0"/>
              <a:t>,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c(t)</a:t>
            </a:r>
            <a:r>
              <a:rPr kumimoji="1" lang="ko-KR" altLang="en-US" dirty="0"/>
              <a:t>는 시간에 따른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의  방향을 선택하는 </a:t>
            </a:r>
            <a:r>
              <a:rPr kumimoji="1" lang="ko-KR" altLang="en-US" dirty="0" err="1"/>
              <a:t>스텝펑션입니다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각 스텝마다 </a:t>
            </a:r>
            <a:r>
              <a:rPr kumimoji="1" lang="en-US" altLang="ko-KR" dirty="0"/>
              <a:t>-1,0,+1</a:t>
            </a:r>
            <a:r>
              <a:rPr kumimoji="1" lang="ko-KR" altLang="en-US" dirty="0"/>
              <a:t>중 하나의 값을 </a:t>
            </a:r>
            <a:r>
              <a:rPr kumimoji="1" lang="ko-KR" altLang="en-US" dirty="0" err="1"/>
              <a:t>갖게됩니다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08497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62911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디튜닝</a:t>
            </a:r>
            <a:r>
              <a:rPr kumimoji="1" lang="ko-KR" altLang="en-US" dirty="0"/>
              <a:t>에 의한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축회전이 존재하면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펄스에 의한 회전축도 변화하게 됩니다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R" dirty="0"/>
              <a:t>+x</a:t>
            </a:r>
            <a:r>
              <a:rPr kumimoji="1" lang="ko-KR" altLang="en-US" dirty="0"/>
              <a:t>회전을 주면 원래는 </a:t>
            </a:r>
            <a:r>
              <a:rPr kumimoji="1" lang="ko-KR" altLang="en-US" dirty="0" err="1"/>
              <a:t>이런식으로</a:t>
            </a:r>
            <a:r>
              <a:rPr kumimoji="1" lang="ko-KR" altLang="en-US" dirty="0"/>
              <a:t> 돌아가겠지만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동일한 속도의 </a:t>
            </a:r>
            <a:r>
              <a:rPr kumimoji="1" lang="ko-KR" altLang="en-US" dirty="0" err="1"/>
              <a:t>디튜닝이</a:t>
            </a:r>
            <a:r>
              <a:rPr kumimoji="1" lang="ko-KR" altLang="en-US" dirty="0"/>
              <a:t> 존재한다면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45</a:t>
            </a:r>
            <a:r>
              <a:rPr kumimoji="1" lang="ko-KR" altLang="en-US" dirty="0"/>
              <a:t>도 틀어진 방향으로 회전이 발생하게 될 것입니다</a:t>
            </a:r>
            <a:r>
              <a:rPr kumimoji="1" lang="en-US" altLang="ko-KR" dirty="0"/>
              <a:t>.-</a:t>
            </a:r>
            <a:r>
              <a:rPr kumimoji="1" lang="en-US" altLang="ko-KR" dirty="0" err="1"/>
              <a:t>x,+y,-y</a:t>
            </a:r>
            <a:r>
              <a:rPr kumimoji="1" lang="ko-KR" altLang="en-US" dirty="0"/>
              <a:t>도 마찬가지로 그림과같이 </a:t>
            </a:r>
            <a:r>
              <a:rPr kumimoji="1" lang="ko-KR" altLang="en-US" dirty="0" err="1"/>
              <a:t>디튜닝에</a:t>
            </a:r>
            <a:r>
              <a:rPr kumimoji="1" lang="ko-KR" altLang="en-US" dirty="0"/>
              <a:t> 의해 회전축이 변화하게 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6857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만약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디튜닝에</a:t>
            </a:r>
            <a:r>
              <a:rPr kumimoji="1" lang="ko-KR" altLang="en-US" dirty="0"/>
              <a:t> 의한 속도가 펄스에 의한 회전 속도 보다 훨씬 빠르다면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회전 축이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축에 가깝게 형성될 것입니다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보시다시피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디튜닝</a:t>
            </a:r>
            <a:r>
              <a:rPr kumimoji="1" lang="ko-KR" altLang="en-US" dirty="0"/>
              <a:t> 속도</a:t>
            </a:r>
            <a:r>
              <a:rPr kumimoji="1" lang="en-US" altLang="ko-KR" dirty="0"/>
              <a:t>:</a:t>
            </a:r>
            <a:r>
              <a:rPr kumimoji="1" lang="ko-KR" altLang="en-US" dirty="0"/>
              <a:t>펄스 속도가 </a:t>
            </a:r>
            <a:r>
              <a:rPr kumimoji="1" lang="en-US" altLang="ko-KR" dirty="0"/>
              <a:t>0.15:0.02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 회전이 훨씬 빨라서 회전축이 </a:t>
            </a:r>
            <a:r>
              <a:rPr kumimoji="1" lang="en-US" altLang="ko-KR" dirty="0"/>
              <a:t>z</a:t>
            </a:r>
            <a:r>
              <a:rPr kumimoji="1" lang="ko-KR" altLang="en-US" dirty="0"/>
              <a:t>축에 가깝게 형성된 것을 볼 수 있습니다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230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이처럼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디튜닝이</a:t>
            </a:r>
            <a:r>
              <a:rPr kumimoji="1" lang="ko-KR" altLang="en-US" dirty="0"/>
              <a:t> 존재할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최적화하는 방법은 다음과 같습니다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우선 시간에 따라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가 변화하므로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hamiltonian</a:t>
            </a:r>
            <a:r>
              <a:rPr kumimoji="1" lang="ko-KR" altLang="en-US" dirty="0"/>
              <a:t>도 </a:t>
            </a:r>
            <a:r>
              <a:rPr kumimoji="1" lang="ko-KR" altLang="en-US" dirty="0" err="1"/>
              <a:t>타임디펜던트</a:t>
            </a:r>
            <a:r>
              <a:rPr kumimoji="1" lang="ko-KR" altLang="en-US" dirty="0"/>
              <a:t> 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따라서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구간을 이산적으로 나누어서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시구간 마다 최적의 펄스선택을 찾을 것입니다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또한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global optimizer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적절한 시구간 </a:t>
            </a:r>
            <a:r>
              <a:rPr kumimoji="1" lang="en-US" altLang="ko-KR" dirty="0"/>
              <a:t>dt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찾게됩니다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ore-KR" dirty="0"/>
          </a:p>
          <a:p>
            <a:r>
              <a:rPr kumimoji="1" lang="en-US" altLang="ko-Kore-KR" dirty="0"/>
              <a:t>fidelity</a:t>
            </a:r>
            <a:r>
              <a:rPr kumimoji="1" lang="ko-KR" altLang="en-US" dirty="0"/>
              <a:t> </a:t>
            </a:r>
            <a:r>
              <a:rPr kumimoji="1" lang="en-US" altLang="ko-KR" dirty="0"/>
              <a:t>0.99</a:t>
            </a:r>
            <a:r>
              <a:rPr kumimoji="1" lang="ko-KR" altLang="en-US" dirty="0"/>
              <a:t> </a:t>
            </a:r>
            <a:r>
              <a:rPr kumimoji="1" lang="ko-Kore-KR" altLang="en-US" dirty="0"/>
              <a:t>를</a:t>
            </a:r>
            <a:r>
              <a:rPr kumimoji="1" lang="ko-KR" altLang="en-US" dirty="0"/>
              <a:t> 만족하면 탐색을 중지하게 됩니다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이때 </a:t>
            </a:r>
            <a:r>
              <a:rPr kumimoji="1" lang="en-US" altLang="ko-KR" dirty="0"/>
              <a:t>fidelity</a:t>
            </a:r>
            <a:r>
              <a:rPr kumimoji="1" lang="ko-KR" altLang="en-US" dirty="0"/>
              <a:t> 식은</a:t>
            </a:r>
            <a:r>
              <a:rPr kumimoji="1" lang="en-US" altLang="ko-KR" dirty="0"/>
              <a:t>. </a:t>
            </a:r>
            <a:r>
              <a:rPr kumimoji="1" lang="ko-KR" altLang="en-US" dirty="0"/>
              <a:t>타겟 </a:t>
            </a:r>
            <a:r>
              <a:rPr kumimoji="1" lang="ko-KR" altLang="en-US" dirty="0" err="1"/>
              <a:t>덴시티매트릭스와</a:t>
            </a:r>
            <a:r>
              <a:rPr kumimoji="1" lang="ko-KR" altLang="en-US" dirty="0"/>
              <a:t> 현재 </a:t>
            </a:r>
            <a:r>
              <a:rPr kumimoji="1" lang="ko-KR" altLang="en-US" dirty="0" err="1"/>
              <a:t>덴시티매트릭스의</a:t>
            </a:r>
            <a:r>
              <a:rPr kumimoji="1" lang="ko-KR" altLang="en-US" dirty="0"/>
              <a:t> 유사도를 비교하는 다음과 같은 식을 사용합니다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5363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제가 사용한 최적화 방법을 말씀드리겠습니다</a:t>
            </a:r>
            <a:r>
              <a:rPr kumimoji="1" lang="en-US" altLang="ko-KR" dirty="0"/>
              <a:t>.</a:t>
            </a:r>
            <a:endParaRPr kumimoji="1" lang="en-US" altLang="ko-Kore-KR" dirty="0"/>
          </a:p>
          <a:p>
            <a:endParaRPr kumimoji="1" lang="en-US" altLang="ko-Kore-KR" dirty="0"/>
          </a:p>
          <a:p>
            <a:r>
              <a:rPr kumimoji="1" lang="ko-Kore-KR" altLang="en-US" dirty="0"/>
              <a:t>빨간색이</a:t>
            </a:r>
            <a:r>
              <a:rPr kumimoji="1" lang="ko-KR" altLang="en-US" dirty="0"/>
              <a:t> 초기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고</a:t>
            </a:r>
            <a:endParaRPr kumimoji="1" lang="en-US" altLang="ko-KR" dirty="0"/>
          </a:p>
          <a:p>
            <a:r>
              <a:rPr kumimoji="1" lang="ko-Kore-KR" altLang="en-US" dirty="0"/>
              <a:t>초록색이</a:t>
            </a:r>
            <a:r>
              <a:rPr kumimoji="1" lang="ko-KR" altLang="en-US" dirty="0"/>
              <a:t> 타겟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최적의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는 바로 내려갈 수 있는 </a:t>
            </a:r>
            <a:r>
              <a:rPr kumimoji="1" lang="en-US" altLang="ko-KR" dirty="0"/>
              <a:t>+x </a:t>
            </a:r>
            <a:r>
              <a:rPr kumimoji="1" lang="en-US" altLang="ko-KR" dirty="0" err="1"/>
              <a:t>rotaition</a:t>
            </a:r>
            <a:r>
              <a:rPr kumimoji="1" lang="ko-KR" altLang="en-US" dirty="0"/>
              <a:t>일 것입니다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빨간색벡터와 초록색 벡터를 </a:t>
            </a:r>
            <a:r>
              <a:rPr kumimoji="1" lang="ko-KR" altLang="en-US" dirty="0" err="1"/>
              <a:t>외적하면</a:t>
            </a:r>
            <a:r>
              <a:rPr kumimoji="1" lang="ko-KR" altLang="en-US" dirty="0"/>
              <a:t> 파란색 성분이 나오게 됩니다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즉</a:t>
            </a:r>
            <a:r>
              <a:rPr kumimoji="1" lang="en-US" altLang="ko-KR" dirty="0"/>
              <a:t>,</a:t>
            </a:r>
            <a:r>
              <a:rPr kumimoji="1" lang="ko-KR" altLang="en-US" dirty="0"/>
              <a:t> 현재 상태에서 타겟으로 가기 위한 최적의 로테이션 축은 현재 상태와 타겟 상태의 외적을 통해 구할 수 있습니다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1403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하지만</a:t>
            </a:r>
            <a:r>
              <a:rPr kumimoji="1" lang="ko-KR" altLang="en-US" dirty="0"/>
              <a:t> 저희가 가지고 있는 축에는 파란색 축이 없습니다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+x</a:t>
            </a:r>
            <a:r>
              <a:rPr kumimoji="1" lang="ko-KR" altLang="en-US" dirty="0"/>
              <a:t>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가 원래 파란색 회전축이었지만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디튜닝에</a:t>
            </a:r>
            <a:r>
              <a:rPr kumimoji="1" lang="ko-KR" altLang="en-US" dirty="0"/>
              <a:t> 의해 회전축의 위치가 올라갔기 때문입니다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그럼에도 파란색 회전축과 가장 가까운 축을 선택하는 것이 최적의 선택이므로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 펄스를 </a:t>
            </a:r>
            <a:r>
              <a:rPr kumimoji="1" lang="ko-KR" altLang="en-US" dirty="0" err="1"/>
              <a:t>선택하게됩니다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이때 가까움을 결정하는 요소는 파란색 축과 </a:t>
            </a:r>
            <a:r>
              <a:rPr kumimoji="1" lang="en-US" altLang="ko-KR" dirty="0"/>
              <a:t>rotation</a:t>
            </a:r>
            <a:r>
              <a:rPr kumimoji="1" lang="ko-KR" altLang="en-US" dirty="0"/>
              <a:t>축 사이의 </a:t>
            </a:r>
            <a:r>
              <a:rPr kumimoji="1" lang="ko-KR" altLang="en-US" dirty="0" err="1"/>
              <a:t>내적값을</a:t>
            </a:r>
            <a:r>
              <a:rPr kumimoji="1" lang="ko-KR" altLang="en-US" dirty="0"/>
              <a:t> 비교합니다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내적 값이 큰 축을 처음 </a:t>
            </a:r>
            <a:r>
              <a:rPr kumimoji="1" lang="en-US" altLang="ko-KR" dirty="0"/>
              <a:t>pulse</a:t>
            </a:r>
            <a:r>
              <a:rPr kumimoji="1" lang="ko-KR" altLang="en-US" dirty="0"/>
              <a:t>로 선택합니다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93517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첫번째</a:t>
            </a:r>
            <a:r>
              <a:rPr kumimoji="1" lang="ko-KR" altLang="en-US" dirty="0"/>
              <a:t> 펄스는 </a:t>
            </a:r>
            <a:r>
              <a:rPr kumimoji="1" lang="ko-KR" altLang="en-US" dirty="0" err="1"/>
              <a:t>내적값을</a:t>
            </a:r>
            <a:r>
              <a:rPr kumimoji="1" lang="ko-KR" altLang="en-US" dirty="0"/>
              <a:t> 통해 선택하게 되고</a:t>
            </a:r>
            <a:r>
              <a:rPr kumimoji="1" lang="en-US" altLang="ko-KR" dirty="0"/>
              <a:t>,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두번째 펄스 </a:t>
            </a:r>
            <a:r>
              <a:rPr kumimoji="1" lang="ko-KR" altLang="en-US" dirty="0" err="1"/>
              <a:t>부터는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내적값의</a:t>
            </a:r>
            <a:r>
              <a:rPr kumimoji="1" lang="ko-KR" altLang="en-US" dirty="0"/>
              <a:t> 변화량을 통해 선택합니다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이전 스텝과 현재 스텝을 비교 했을 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내적값의</a:t>
            </a:r>
            <a:r>
              <a:rPr kumimoji="1" lang="ko-KR" altLang="en-US" dirty="0"/>
              <a:t> 변화량이 큰 축을 선택하게 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39107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만약</a:t>
            </a:r>
            <a:r>
              <a:rPr kumimoji="1" lang="ko-KR" altLang="en-US" dirty="0"/>
              <a:t> 가장 변화량이 큰 축이 </a:t>
            </a:r>
            <a:r>
              <a:rPr kumimoji="1" lang="ko-KR" altLang="en-US" dirty="0" err="1"/>
              <a:t>여러개</a:t>
            </a:r>
            <a:r>
              <a:rPr kumimoji="1" lang="ko-KR" altLang="en-US" dirty="0"/>
              <a:t> 존재하면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현재 스텝의 </a:t>
            </a:r>
            <a:r>
              <a:rPr kumimoji="1" lang="ko-KR" altLang="en-US" dirty="0" err="1"/>
              <a:t>내적값이</a:t>
            </a:r>
            <a:r>
              <a:rPr kumimoji="1" lang="ko-KR" altLang="en-US" dirty="0"/>
              <a:t> 더 큰 축을 선택합니다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52911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이러한</a:t>
            </a:r>
            <a:r>
              <a:rPr kumimoji="1" lang="ko-KR" altLang="en-US" dirty="0"/>
              <a:t> 메커니즘을 통해서 각 구간 </a:t>
            </a:r>
            <a:r>
              <a:rPr kumimoji="1" lang="en-US" altLang="ko-KR" dirty="0"/>
              <a:t>dt</a:t>
            </a:r>
            <a:r>
              <a:rPr kumimoji="1" lang="ko-KR" altLang="en-US" dirty="0"/>
              <a:t>마다 적절한 </a:t>
            </a:r>
            <a:r>
              <a:rPr kumimoji="1" lang="en-US" altLang="ko-KR" dirty="0"/>
              <a:t>pulse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찾게 됩니다</a:t>
            </a:r>
            <a:r>
              <a:rPr kumimoji="1" lang="en-US" altLang="ko-KR" dirty="0"/>
              <a:t>.</a:t>
            </a:r>
          </a:p>
          <a:p>
            <a:r>
              <a:rPr kumimoji="1" lang="ko-Kore-KR" altLang="en-US" dirty="0"/>
              <a:t>이때</a:t>
            </a:r>
            <a:r>
              <a:rPr kumimoji="1" lang="en-US" altLang="ko-Kore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fidelity</a:t>
            </a:r>
            <a:r>
              <a:rPr kumimoji="1" lang="ko-KR" altLang="en-US" dirty="0"/>
              <a:t> </a:t>
            </a:r>
            <a:r>
              <a:rPr kumimoji="1" lang="en-US" altLang="ko-KR" dirty="0"/>
              <a:t>0.99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만족하면 </a:t>
            </a:r>
            <a:r>
              <a:rPr kumimoji="1" lang="en-US" altLang="ko-KR" dirty="0"/>
              <a:t>stop</a:t>
            </a:r>
            <a:r>
              <a:rPr kumimoji="1" lang="ko-KR" altLang="en-US" dirty="0"/>
              <a:t>하게 됩니다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dt</a:t>
            </a:r>
            <a:r>
              <a:rPr kumimoji="1" lang="ko-KR" altLang="en-US" dirty="0"/>
              <a:t>는 앞서 말씀드린 것 </a:t>
            </a:r>
            <a:r>
              <a:rPr kumimoji="1" lang="ko-KR" altLang="en-US" dirty="0" err="1"/>
              <a:t>처럼</a:t>
            </a:r>
            <a:r>
              <a:rPr kumimoji="1" lang="ko-KR" altLang="en-US" dirty="0"/>
              <a:t> </a:t>
            </a:r>
            <a:r>
              <a:rPr kumimoji="1" lang="en-US" altLang="ko-KR" dirty="0"/>
              <a:t>Global optimizer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사용하는데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저희는 </a:t>
            </a:r>
            <a:r>
              <a:rPr kumimoji="1" lang="ko-KR" altLang="en-US" dirty="0" err="1"/>
              <a:t>슈고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옵티마이저라는</a:t>
            </a:r>
            <a:r>
              <a:rPr kumimoji="1" lang="ko-KR" altLang="en-US" dirty="0"/>
              <a:t> 것을 사용합니다</a:t>
            </a:r>
            <a:r>
              <a:rPr kumimoji="1" lang="en-US" altLang="ko-KR" dirty="0"/>
              <a:t>.</a:t>
            </a:r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68919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코드</a:t>
            </a:r>
            <a:r>
              <a:rPr kumimoji="1" lang="ko-KR" altLang="en-US" dirty="0"/>
              <a:t> 실행 결과를 말씀드리겠습니다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우선 </a:t>
            </a:r>
            <a:r>
              <a:rPr kumimoji="1" lang="ko-KR" altLang="en-US" dirty="0" err="1"/>
              <a:t>디튜닝</a:t>
            </a:r>
            <a:r>
              <a:rPr kumimoji="1" lang="ko-KR" altLang="en-US" dirty="0"/>
              <a:t> 속도가 펄스와 같을 때 실험 결과입니다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R" dirty="0"/>
              <a:t>0</a:t>
            </a:r>
            <a:r>
              <a:rPr kumimoji="1" lang="ko-KR" altLang="en-US" dirty="0"/>
              <a:t> 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에서 초록색 중첩 상태로 보내는 경로를 탐색한 결과입니다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토탈 타임은 </a:t>
            </a:r>
            <a:r>
              <a:rPr kumimoji="1" lang="en-US" altLang="ko-KR" dirty="0"/>
              <a:t>169.2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마이크로초가</a:t>
            </a:r>
            <a:r>
              <a:rPr kumimoji="1" lang="ko-KR" altLang="en-US" dirty="0"/>
              <a:t> 걸렸고 상당히 높은 </a:t>
            </a:r>
            <a:r>
              <a:rPr kumimoji="1" lang="en-US" altLang="ko-KR" dirty="0"/>
              <a:t>fidelity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보여줍니다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8466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반대쪽으로</a:t>
            </a:r>
            <a:r>
              <a:rPr kumimoji="1" lang="ko-KR" altLang="en-US" dirty="0"/>
              <a:t> 보내는 경우에도 유사하게 </a:t>
            </a:r>
            <a:r>
              <a:rPr kumimoji="1" lang="en-US" altLang="ko-KR" dirty="0"/>
              <a:t>168.63</a:t>
            </a:r>
            <a:r>
              <a:rPr kumimoji="1" lang="ko-KR" altLang="en-US" dirty="0"/>
              <a:t>초가 걸리고 높은 </a:t>
            </a:r>
            <a:r>
              <a:rPr kumimoji="1" lang="ko-KR" altLang="en-US" dirty="0" err="1"/>
              <a:t>피델리티를</a:t>
            </a:r>
            <a:r>
              <a:rPr kumimoji="1" lang="ko-KR" altLang="en-US" dirty="0"/>
              <a:t> 보여줍니다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55582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이번에는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디튜닝</a:t>
            </a:r>
            <a:r>
              <a:rPr kumimoji="1" lang="ko-KR" altLang="en-US" dirty="0"/>
              <a:t> 속도가 펄스 속도보다 훨씬 </a:t>
            </a:r>
            <a:r>
              <a:rPr kumimoji="1" lang="ko-KR" altLang="en-US" dirty="0" err="1"/>
              <a:t>빠를때의</a:t>
            </a:r>
            <a:r>
              <a:rPr kumimoji="1" lang="ko-KR" altLang="en-US" dirty="0"/>
              <a:t> 결과입니다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en-US" altLang="ko-Kore-KR" dirty="0"/>
              <a:t>z</a:t>
            </a:r>
            <a:r>
              <a:rPr kumimoji="1" lang="ko-Kore-KR" altLang="en-US" dirty="0"/>
              <a:t>툭</a:t>
            </a:r>
            <a:r>
              <a:rPr kumimoji="1" lang="ko-KR" altLang="en-US" dirty="0"/>
              <a:t> 회전이 빠르기 때문에 </a:t>
            </a:r>
            <a:r>
              <a:rPr kumimoji="1" lang="ko-KR" altLang="en-US" dirty="0" err="1"/>
              <a:t>여러번</a:t>
            </a:r>
            <a:r>
              <a:rPr kumimoji="1" lang="ko-KR" altLang="en-US" dirty="0"/>
              <a:t> 뺑글뺑글 돌면서 내려오는 것을 보실 수 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그럼에도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속도는 앞선 경우보다 더 빠른</a:t>
            </a:r>
            <a:r>
              <a:rPr kumimoji="1" lang="en-US" altLang="ko-KR" dirty="0"/>
              <a:t>110.46</a:t>
            </a:r>
            <a:r>
              <a:rPr kumimoji="1" lang="ko-KR" altLang="en-US" dirty="0" err="1"/>
              <a:t>마이크로초입니다</a:t>
            </a:r>
            <a:r>
              <a:rPr kumimoji="1" lang="en-US" altLang="ko-KR" dirty="0"/>
              <a:t>.,</a:t>
            </a:r>
            <a:r>
              <a:rPr kumimoji="1" lang="ko-KR" altLang="en-US" dirty="0"/>
              <a:t> 그 이유는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빨라진 물살을 잘 활용해서 이동했고 생각하시면 편할 것 같습니다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52509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반대쪽으로도</a:t>
            </a:r>
            <a:r>
              <a:rPr kumimoji="1" lang="ko-KR" altLang="en-US" dirty="0"/>
              <a:t> 높은 </a:t>
            </a:r>
            <a:r>
              <a:rPr kumimoji="1" lang="ko-KR" altLang="en-US" dirty="0" err="1"/>
              <a:t>피델리티를</a:t>
            </a:r>
            <a:r>
              <a:rPr kumimoji="1" lang="ko-KR" altLang="en-US" dirty="0"/>
              <a:t> 만족하며 최적의 경로를 찾는 것을 보실 수 있습니다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768520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개선해야할</a:t>
            </a:r>
            <a:r>
              <a:rPr kumimoji="1" lang="ko-KR" altLang="en-US" dirty="0"/>
              <a:t> 점이 두가지 있습니다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우선 여러가지 </a:t>
            </a:r>
            <a:r>
              <a:rPr kumimoji="1" lang="en-US" altLang="ko-KR" dirty="0"/>
              <a:t>target state</a:t>
            </a:r>
            <a:r>
              <a:rPr kumimoji="1" lang="ko-KR" altLang="en-US" dirty="0"/>
              <a:t>에 대해서 시뮬레이션을 돌려본 결과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일부 </a:t>
            </a:r>
            <a:r>
              <a:rPr kumimoji="1" lang="en-US" altLang="ko-KR" dirty="0"/>
              <a:t>case</a:t>
            </a:r>
            <a:r>
              <a:rPr kumimoji="1" lang="ko-KR" altLang="en-US" dirty="0"/>
              <a:t>에 대해서 경로를 찾지 못하는 경우가 있었습니다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ore-KR" dirty="0"/>
          </a:p>
          <a:p>
            <a:r>
              <a:rPr kumimoji="1" lang="ko-KR" altLang="en-US" dirty="0"/>
              <a:t>그림에서 보시는 것 </a:t>
            </a:r>
            <a:r>
              <a:rPr kumimoji="1" lang="ko-KR" altLang="en-US" dirty="0" err="1"/>
              <a:t>처럼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앞선 결과와는 다르게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경로가 깔끔하지 못한 것을 보실 수 있습니다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이에 대한 해결방안을 </a:t>
            </a:r>
            <a:r>
              <a:rPr kumimoji="1" lang="ko-KR" altLang="en-US" dirty="0" err="1"/>
              <a:t>생각중인데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현재 사용하는 </a:t>
            </a:r>
            <a:r>
              <a:rPr kumimoji="1" lang="ko-KR" altLang="en-US" dirty="0" err="1"/>
              <a:t>매커니즘을</a:t>
            </a:r>
            <a:r>
              <a:rPr kumimoji="1" lang="ko-KR" altLang="en-US" dirty="0"/>
              <a:t> 더 강화하는 것은 문제를 </a:t>
            </a:r>
            <a:r>
              <a:rPr kumimoji="1" lang="ko-KR" altLang="en-US" dirty="0" err="1"/>
              <a:t>푸는데에</a:t>
            </a:r>
            <a:r>
              <a:rPr kumimoji="1" lang="ko-KR" altLang="en-US" dirty="0"/>
              <a:t> 유연성이 힘들다고 판단되어서</a:t>
            </a:r>
            <a:endParaRPr kumimoji="1" lang="en-US" altLang="ko-KR" dirty="0"/>
          </a:p>
          <a:p>
            <a:r>
              <a:rPr kumimoji="1" lang="ko-KR" altLang="en-US" dirty="0"/>
              <a:t>사용하고 있는 최적화 알고리즘을 더 활용하는 방안으로 물색하고 있습니다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현재는 시구간 </a:t>
            </a:r>
            <a:r>
              <a:rPr kumimoji="1" lang="en-US" altLang="ko-KR" dirty="0"/>
              <a:t>dt</a:t>
            </a:r>
            <a:r>
              <a:rPr kumimoji="1" lang="ko-KR" altLang="en-US" dirty="0"/>
              <a:t>만을 최적화 변수로 사용하고 있는데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여기에 </a:t>
            </a:r>
            <a:r>
              <a:rPr kumimoji="1" lang="en-US" altLang="ko-KR" dirty="0"/>
              <a:t>pulse choice</a:t>
            </a:r>
            <a:r>
              <a:rPr kumimoji="1" lang="ko-KR" altLang="en-US" dirty="0"/>
              <a:t>도 최적화 변수로 넣어준다면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유연하게 문제를 풀 수 있을 것으로 예상됩니다</a:t>
            </a:r>
            <a:r>
              <a:rPr kumimoji="1" lang="en-US" altLang="ko-KR" dirty="0"/>
              <a:t>.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9052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두번째</a:t>
            </a:r>
            <a:r>
              <a:rPr kumimoji="1" lang="ko-KR" altLang="en-US" dirty="0"/>
              <a:t> 개선점을 </a:t>
            </a:r>
            <a:r>
              <a:rPr kumimoji="1" lang="en-US" altLang="ko-KR" dirty="0"/>
              <a:t>cost function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지금 사용하고 잇는 </a:t>
            </a:r>
            <a:r>
              <a:rPr kumimoji="1" lang="ko-KR" altLang="en-US" dirty="0" err="1"/>
              <a:t>슈고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옵티마이저는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mimimum</a:t>
            </a:r>
            <a:r>
              <a:rPr kumimoji="1" lang="ko-KR" altLang="en-US" dirty="0"/>
              <a:t>을 찾는 툴입니다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따라서</a:t>
            </a:r>
            <a:r>
              <a:rPr kumimoji="1" lang="ko-KR" altLang="en-US" dirty="0"/>
              <a:t> 코스트 </a:t>
            </a:r>
            <a:r>
              <a:rPr kumimoji="1" lang="ko-KR" altLang="en-US" dirty="0" err="1"/>
              <a:t>펑션을</a:t>
            </a:r>
            <a:r>
              <a:rPr kumimoji="1" lang="ko-KR" altLang="en-US" dirty="0"/>
              <a:t> </a:t>
            </a:r>
            <a:r>
              <a:rPr kumimoji="1" lang="en-US" altLang="ko-KR" dirty="0"/>
              <a:t>1-</a:t>
            </a:r>
            <a:r>
              <a:rPr kumimoji="1" lang="ko-KR" altLang="en-US" dirty="0" err="1"/>
              <a:t>피델리티로</a:t>
            </a:r>
            <a:r>
              <a:rPr kumimoji="1" lang="ko-KR" altLang="en-US" dirty="0"/>
              <a:t> 사용하고 잇습니다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지금 코스트 </a:t>
            </a:r>
            <a:r>
              <a:rPr kumimoji="1" lang="ko-KR" altLang="en-US" dirty="0" err="1"/>
              <a:t>펑션에</a:t>
            </a:r>
            <a:r>
              <a:rPr kumimoji="1" lang="ko-KR" altLang="en-US" dirty="0"/>
              <a:t> 시간이 들어가지 않은 상태입니다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시간이 길어질 수록 페널티를 부여하는 것이 </a:t>
            </a:r>
            <a:r>
              <a:rPr kumimoji="1" lang="en-US" altLang="ko-KR" dirty="0"/>
              <a:t>time-optimal</a:t>
            </a:r>
            <a:r>
              <a:rPr kumimoji="1" lang="ko-KR" altLang="en-US" dirty="0"/>
              <a:t>한 경로를 찾는 데에 유리할 거라고 생각합니다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따라서 </a:t>
            </a:r>
            <a:r>
              <a:rPr kumimoji="1" lang="en-US" altLang="ko-KR" dirty="0"/>
              <a:t>cost </a:t>
            </a:r>
            <a:r>
              <a:rPr kumimoji="1" lang="en-US" altLang="ko-KR" dirty="0" err="1"/>
              <a:t>funtion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1-</a:t>
            </a:r>
            <a:r>
              <a:rPr kumimoji="1" lang="ko-KR" altLang="en-US" dirty="0" err="1"/>
              <a:t>피델리티에</a:t>
            </a:r>
            <a:r>
              <a:rPr kumimoji="1" lang="ko-KR" altLang="en-US" dirty="0"/>
              <a:t> 시간에 대한 항을 추가하여 코드를 개선하려고 합니다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R" altLang="en-US" dirty="0"/>
              <a:t>이때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시간에 대한 가중치 </a:t>
            </a:r>
            <a:r>
              <a:rPr kumimoji="1" lang="ko-KR" altLang="en-US" dirty="0" err="1"/>
              <a:t>카파값에</a:t>
            </a:r>
            <a:r>
              <a:rPr kumimoji="1" lang="ko-KR" altLang="en-US" dirty="0"/>
              <a:t> 대한 정확한 레퍼런스가 나와있지 않아서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직접 </a:t>
            </a:r>
            <a:r>
              <a:rPr kumimoji="1" lang="ko-KR" altLang="en-US" dirty="0" err="1"/>
              <a:t>카파를</a:t>
            </a:r>
            <a:r>
              <a:rPr kumimoji="1" lang="ko-KR" altLang="en-US" dirty="0"/>
              <a:t> 조절해가면서 적절한 값을 </a:t>
            </a:r>
            <a:r>
              <a:rPr kumimoji="1" lang="ko-KR" altLang="en-US" dirty="0" err="1"/>
              <a:t>찾는것이</a:t>
            </a:r>
            <a:r>
              <a:rPr kumimoji="1" lang="ko-KR" altLang="en-US" dirty="0"/>
              <a:t> 중요하다고 생각합니다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ore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0176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향후</a:t>
            </a:r>
            <a:r>
              <a:rPr kumimoji="1" lang="ko-KR" altLang="en-US" dirty="0"/>
              <a:t> 목표는 코드를 개선시킨 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양질의 데이터들을 뽑아서 </a:t>
            </a:r>
            <a:r>
              <a:rPr kumimoji="1" lang="ko-KR" altLang="en-US" dirty="0" err="1"/>
              <a:t>머신러닝으로</a:t>
            </a:r>
            <a:r>
              <a:rPr kumimoji="1" lang="ko-KR" altLang="en-US" dirty="0"/>
              <a:t> 학습을 시킵니다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현재는 하나의 데이터 셋을 </a:t>
            </a:r>
            <a:r>
              <a:rPr kumimoji="1" lang="ko-KR" altLang="en-US" dirty="0" err="1"/>
              <a:t>뽑는데에</a:t>
            </a:r>
            <a:r>
              <a:rPr kumimoji="1" lang="ko-KR" altLang="en-US" dirty="0"/>
              <a:t> 대략 </a:t>
            </a:r>
            <a:r>
              <a:rPr kumimoji="1" lang="en-US" altLang="ko-KR" dirty="0"/>
              <a:t>2</a:t>
            </a:r>
            <a:r>
              <a:rPr kumimoji="1" lang="ko-KR" altLang="en-US" dirty="0" err="1"/>
              <a:t>분정도</a:t>
            </a:r>
            <a:r>
              <a:rPr kumimoji="1" lang="ko-KR" altLang="en-US" dirty="0"/>
              <a:t> 걸리고 있습니다</a:t>
            </a:r>
            <a:r>
              <a:rPr kumimoji="1"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dirty="0"/>
              <a:t>머신러닝을</a:t>
            </a:r>
            <a:r>
              <a:rPr kumimoji="1" lang="ko-KR" altLang="en-US" dirty="0"/>
              <a:t> 통해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target state</a:t>
            </a:r>
            <a:r>
              <a:rPr kumimoji="1" lang="ko-KR" altLang="en-US" dirty="0"/>
              <a:t>로 보내기 위한 데이터 셋을 빠르게 추정할 수 있게 될 것입니다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그리고 향후 이 데이터들을 실제 실험 </a:t>
            </a:r>
            <a:r>
              <a:rPr kumimoji="1" lang="ko-KR" altLang="en-US" dirty="0" err="1"/>
              <a:t>셋업해</a:t>
            </a:r>
            <a:r>
              <a:rPr kumimoji="1" lang="ko-KR" altLang="en-US" dirty="0"/>
              <a:t> 적용해볼 예정입니다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이렇게 프로젝트가 마무리되면 같은 방법을 </a:t>
            </a:r>
            <a:r>
              <a:rPr kumimoji="1" lang="en-US" altLang="ko-KR" dirty="0"/>
              <a:t>13</a:t>
            </a:r>
            <a:r>
              <a:rPr kumimoji="1" lang="ko-KR" altLang="en-US" dirty="0" err="1"/>
              <a:t>카본핵스핀과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nvspin</a:t>
            </a:r>
            <a:r>
              <a:rPr kumimoji="1" lang="ko-KR" altLang="en-US" dirty="0"/>
              <a:t>이 얽힌 케이스에도 적용해볼 예정입니다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83986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3921C-8796-474B-A236-0E3C88D21FB0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176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1CC2F-5EBC-B5E5-F146-E88BBF772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4E3F6E-1E01-1ED7-BEAB-5E63A6133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90CAC-8B2C-EB51-CF68-683E50DED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965B6-B655-CD6C-B6B1-83A4276C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78C6E9-90CF-9FA4-F5E9-7990640F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2187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87E09-E04A-5828-65C2-79A21C93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ABCF45-8B0E-C3CC-5EA7-FF4A03E6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29986-F41E-0C24-7AE8-00077123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8DE4E-DC9C-6C4B-3240-23C6E225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4883D-1958-9FF0-E974-6022FE48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123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ED501-D51A-7257-4997-157B2C8A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7276F1-D136-838E-6048-032956241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833AE0-5F6A-B7E3-9E2B-595CA5C5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AB96D-DD91-7DDD-85F3-4938A0655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9930B-CEE5-FDA9-A27C-656DD4F4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0572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1BC1B-0C0B-9F21-E9D5-EECD50C2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6D493-E2F6-E509-C1BD-1085E8BF4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BCB242-0E39-281D-4C9A-EA50F2A60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AA353F-894F-9DB1-CAE7-CF82F887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7A4795-541D-568C-3DAC-1CF24AB44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CC9CF-3BA0-F644-7B8B-9D92CA82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25326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7CA41-FF00-D52C-42F5-DB5A7884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04722B-FEE7-E24C-DF8F-6BDD752F7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D69DD5-A4DA-7BDB-4512-4BBD81331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3FF327-325D-A0ED-D19C-64B610392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E57C1-A242-0BA2-110B-82AD8759A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2EB7B2-CFF7-7540-3579-AF58A2521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F5D69D-F48A-E3FC-31D9-00BDBD03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59A9D3-7F9B-5E97-0D93-7E04DA0D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7211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B4A46-5FBD-1A9D-B0F8-B935E8F7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7E3F71-DFE3-3DA6-73D7-5A1B7694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B6589A-6E7F-BF86-507A-AB74E623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869F8B-9123-53DC-ECF7-53E67325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0654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BBD1BD-58DA-44D4-8692-472D89B7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E0CCDB-EDBA-3F89-3D1C-B52608FE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06009D-E604-8779-D80F-174F494B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3808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0EC9A-1115-05A2-CA4D-C1438278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DB97F-3970-F012-996B-9C6B03098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C80620-1243-BA34-8946-7DBEF6E2F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4C1469-5B1A-BFBD-2C38-9FC953815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6D930E-AE72-404C-463F-474CE1C6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DF4397-64F7-F1C1-F795-97651DB9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9294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DA07D-D15C-81D2-F1C7-E537F324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BEE83BD-C8C9-83C3-0476-4EE542DE3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300305-0059-EE32-9453-3F68DBF8C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26B544-BFEE-7654-A689-FE8DF235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DBC464-8A81-3E88-F59C-D5F987BA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2877BC-E82E-1027-FFF8-3151130A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0023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5519A-4AA4-5656-6871-196C615C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0F7AD7-68D3-95AA-8888-76E06F05D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9AC037-1066-645F-5B11-95B80A61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6E967-A615-C01F-1340-B76D0053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EB8379-CDAC-9D30-C1C4-694D7818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383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25F62B-1725-E29F-C5C6-40DFD03D5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F09501-0603-9D7B-342C-A66C8B23F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F67FB-8ABE-D4EC-0BAA-1109C388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5AC8-F4A7-1BA5-7659-6CB34198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6333F0-F2EB-F411-4768-4B75D6F1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9827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3A521F-D511-A8FE-BB2A-AB4D7009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332B67-0465-431D-48EF-F75B07ADB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253F4-1CF5-09FB-535D-7ABCDF72F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2E1B1-37BF-FB4D-9021-EFDAC8FDBECB}" type="datetimeFigureOut">
              <a:rPr kumimoji="1" lang="ko-Kore-KR" altLang="en-US" smtClean="0"/>
              <a:t>2023. 5. 23.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E9EF2-C73C-E299-DCA0-D0545CF37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4928A-FA40-E622-6F3B-A25DC912D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27764-3709-AD4F-B7F0-629031BA50E9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2963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80EE82-9F14-2CF3-9245-5FC130436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kumimoji="1" lang="en-US" altLang="ko-Kore-KR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Time-Optimal </a:t>
            </a:r>
            <a:br>
              <a:rPr kumimoji="1" lang="en-US" altLang="ko-Kore-KR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en-US" altLang="ko-Kore-KR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NV Spin Control</a:t>
            </a:r>
            <a:endParaRPr kumimoji="1" lang="en-US" alt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부제목 2">
            <a:extLst>
              <a:ext uri="{FF2B5EF4-FFF2-40B4-BE49-F238E27FC236}">
                <a16:creationId xmlns:a16="http://schemas.microsoft.com/office/drawing/2014/main" id="{F6E14055-A3AE-6B27-214F-3B8E09483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ko-Kore-KR"/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ko-Kore-KR"/>
          </a:p>
          <a:p>
            <a:pPr indent="-228600" algn="l">
              <a:buFont typeface="Arial" panose="020B0604020202020204" pitchFamily="34" charset="0"/>
              <a:buChar char="•"/>
            </a:pPr>
            <a:endParaRPr kumimoji="1" lang="en-US" altLang="ko-Kore-KR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kumimoji="1" lang="en-US" altLang="en-US"/>
              <a:t>양자정보</a:t>
            </a:r>
            <a:r>
              <a:rPr kumimoji="1" lang="ko-KR" altLang="en-US"/>
              <a:t>연구단 인턴 하규원</a:t>
            </a:r>
            <a:endParaRPr kumimoji="1" lang="en-US" altLang="en-US"/>
          </a:p>
        </p:txBody>
      </p:sp>
    </p:spTree>
    <p:extLst>
      <p:ext uri="{BB962C8B-B14F-4D97-AF65-F5344CB8AC3E}">
        <p14:creationId xmlns:p14="http://schemas.microsoft.com/office/powerpoint/2010/main" val="153217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E4956-981D-3338-4A6F-9CCF2DBE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dirty="0"/>
              <a:t>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43531-2D87-EEB1-610D-8033CAA4C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205" y="3429000"/>
            <a:ext cx="5309454" cy="2932690"/>
          </a:xfrm>
        </p:spPr>
        <p:txBody>
          <a:bodyPr/>
          <a:lstStyle/>
          <a:p>
            <a:r>
              <a:rPr kumimoji="1" lang="en-US" altLang="ko-Kore-KR" dirty="0">
                <a:solidFill>
                  <a:srgbClr val="FF0000"/>
                </a:solidFill>
              </a:rPr>
              <a:t>Spin control</a:t>
            </a:r>
            <a:r>
              <a:rPr kumimoji="1" lang="ko-KR" altLang="en-US" dirty="0">
                <a:solidFill>
                  <a:srgbClr val="FF0000"/>
                </a:solidFill>
              </a:rPr>
              <a:t>에 대한 방법론 개발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r>
              <a:rPr kumimoji="1" lang="en-US" altLang="ko-KR" dirty="0"/>
              <a:t>Machine Learning</a:t>
            </a:r>
            <a:r>
              <a:rPr kumimoji="1" lang="ko-KR" altLang="en-US" dirty="0"/>
              <a:t>을 통한 계산 속도 개선</a:t>
            </a:r>
            <a:endParaRPr kumimoji="1" lang="en-US" altLang="ko-KR" dirty="0"/>
          </a:p>
          <a:p>
            <a:r>
              <a:rPr kumimoji="1" lang="ko-Kore-KR" altLang="en-US" dirty="0"/>
              <a:t>실제</a:t>
            </a:r>
            <a:r>
              <a:rPr kumimoji="1" lang="ko-KR" altLang="en-US" dirty="0"/>
              <a:t> 실험 셋업에 적용</a:t>
            </a:r>
            <a:endParaRPr kumimoji="1" lang="ko-Kore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5BEB2C-BA1E-CE24-B3FC-A6AF1D16415C}"/>
              </a:ext>
            </a:extLst>
          </p:cNvPr>
          <p:cNvSpPr/>
          <p:nvPr/>
        </p:nvSpPr>
        <p:spPr>
          <a:xfrm>
            <a:off x="4119460" y="2366595"/>
            <a:ext cx="1595436" cy="5143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</a:rPr>
              <a:t>⸰ Initialization</a:t>
            </a:r>
          </a:p>
          <a:p>
            <a:r>
              <a:rPr lang="en-US" altLang="ko-KR" sz="1500" dirty="0">
                <a:solidFill>
                  <a:schemeClr val="tx1"/>
                </a:solidFill>
              </a:rPr>
              <a:t>⸰ Entangling gate</a:t>
            </a:r>
            <a:endParaRPr lang="ko-KR" alt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406194-2CDB-B44B-5E1B-29047F8CCA17}"/>
              </a:ext>
            </a:extLst>
          </p:cNvPr>
          <p:cNvSpPr txBox="1"/>
          <p:nvPr/>
        </p:nvSpPr>
        <p:spPr>
          <a:xfrm>
            <a:off x="4226615" y="1690688"/>
            <a:ext cx="14192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Quantum Circuit</a:t>
            </a:r>
            <a:endParaRPr lang="ko-KR" altLang="en-US" sz="1300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3B4B0A56-2C09-9BF1-3C7A-1348DB17C633}"/>
              </a:ext>
            </a:extLst>
          </p:cNvPr>
          <p:cNvSpPr/>
          <p:nvPr/>
        </p:nvSpPr>
        <p:spPr>
          <a:xfrm>
            <a:off x="4826690" y="1983076"/>
            <a:ext cx="152400" cy="292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16769-3F77-C474-DAE7-75044DFEA559}"/>
              </a:ext>
            </a:extLst>
          </p:cNvPr>
          <p:cNvSpPr txBox="1"/>
          <p:nvPr/>
        </p:nvSpPr>
        <p:spPr>
          <a:xfrm>
            <a:off x="4117077" y="2118598"/>
            <a:ext cx="1419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Problem</a:t>
            </a:r>
            <a:endParaRPr lang="ko-KR" altLang="en-US" sz="1000" dirty="0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5D0FCCD9-D1D4-41A9-BE8F-1E8F5D7C232E}"/>
              </a:ext>
            </a:extLst>
          </p:cNvPr>
          <p:cNvSpPr/>
          <p:nvPr/>
        </p:nvSpPr>
        <p:spPr>
          <a:xfrm rot="16200000">
            <a:off x="6048089" y="2312010"/>
            <a:ext cx="176213" cy="6378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78CFD-4F76-B29D-B5E4-2D30C2BDD1E4}"/>
              </a:ext>
            </a:extLst>
          </p:cNvPr>
          <p:cNvSpPr txBox="1"/>
          <p:nvPr/>
        </p:nvSpPr>
        <p:spPr>
          <a:xfrm>
            <a:off x="5727878" y="2179019"/>
            <a:ext cx="1419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Gate</a:t>
            </a:r>
          </a:p>
          <a:p>
            <a:r>
              <a:rPr lang="en-US" altLang="ko-KR" sz="1000" dirty="0"/>
              <a:t>Parameter</a:t>
            </a:r>
            <a:endParaRPr lang="ko-KR" altLang="en-US" sz="1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CFF265-5A63-D47F-EE90-CE70F5DEFDBF}"/>
              </a:ext>
            </a:extLst>
          </p:cNvPr>
          <p:cNvSpPr/>
          <p:nvPr/>
        </p:nvSpPr>
        <p:spPr>
          <a:xfrm>
            <a:off x="6543574" y="2362624"/>
            <a:ext cx="1595436" cy="51435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Global</a:t>
            </a:r>
          </a:p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Optimizer</a:t>
            </a:r>
            <a:endParaRPr lang="ko-KR" altLang="en-US" sz="1500" dirty="0"/>
          </a:p>
        </p:txBody>
      </p:sp>
      <p:sp>
        <p:nvSpPr>
          <p:cNvPr id="11" name="화살표: 아래쪽 13">
            <a:extLst>
              <a:ext uri="{FF2B5EF4-FFF2-40B4-BE49-F238E27FC236}">
                <a16:creationId xmlns:a16="http://schemas.microsoft.com/office/drawing/2014/main" id="{C3176B26-C74F-2504-C760-11488F8708FF}"/>
              </a:ext>
            </a:extLst>
          </p:cNvPr>
          <p:cNvSpPr/>
          <p:nvPr/>
        </p:nvSpPr>
        <p:spPr>
          <a:xfrm rot="16200000">
            <a:off x="8560719" y="2312009"/>
            <a:ext cx="176213" cy="6378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0CC147-FA23-5377-228D-54B53C014D62}"/>
              </a:ext>
            </a:extLst>
          </p:cNvPr>
          <p:cNvSpPr txBox="1"/>
          <p:nvPr/>
        </p:nvSpPr>
        <p:spPr>
          <a:xfrm>
            <a:off x="8240508" y="2340943"/>
            <a:ext cx="1419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A0CC5-F364-9001-81A0-C0F9D866FBD6}"/>
              </a:ext>
            </a:extLst>
          </p:cNvPr>
          <p:cNvSpPr txBox="1"/>
          <p:nvPr/>
        </p:nvSpPr>
        <p:spPr>
          <a:xfrm>
            <a:off x="8240508" y="2665914"/>
            <a:ext cx="1419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Training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CC34E1-56AD-4E60-6BDD-4D65BC44FD05}"/>
              </a:ext>
            </a:extLst>
          </p:cNvPr>
          <p:cNvSpPr/>
          <p:nvPr/>
        </p:nvSpPr>
        <p:spPr>
          <a:xfrm>
            <a:off x="9156525" y="2360429"/>
            <a:ext cx="1595436" cy="5143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Machine</a:t>
            </a:r>
          </a:p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Network</a:t>
            </a:r>
            <a:endParaRPr lang="ko-KR" altLang="en-US" sz="1500" dirty="0"/>
          </a:p>
        </p:txBody>
      </p:sp>
      <p:sp>
        <p:nvSpPr>
          <p:cNvPr id="15" name="화살표: 아래쪽 17">
            <a:extLst>
              <a:ext uri="{FF2B5EF4-FFF2-40B4-BE49-F238E27FC236}">
                <a16:creationId xmlns:a16="http://schemas.microsoft.com/office/drawing/2014/main" id="{6C914CCC-608C-8F25-0E4C-BE7635EC6E33}"/>
              </a:ext>
            </a:extLst>
          </p:cNvPr>
          <p:cNvSpPr/>
          <p:nvPr/>
        </p:nvSpPr>
        <p:spPr>
          <a:xfrm>
            <a:off x="9866135" y="3002342"/>
            <a:ext cx="176213" cy="637805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5E2922-733A-08A7-BD41-B31EBDB2C4BE}"/>
              </a:ext>
            </a:extLst>
          </p:cNvPr>
          <p:cNvSpPr/>
          <p:nvPr/>
        </p:nvSpPr>
        <p:spPr>
          <a:xfrm>
            <a:off x="9156525" y="3765043"/>
            <a:ext cx="1595436" cy="5143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Local</a:t>
            </a:r>
          </a:p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Optimizer</a:t>
            </a:r>
            <a:endParaRPr lang="ko-KR" alt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6868C-8071-C836-1F2A-2A60CE0A30A6}"/>
              </a:ext>
            </a:extLst>
          </p:cNvPr>
          <p:cNvSpPr txBox="1"/>
          <p:nvPr/>
        </p:nvSpPr>
        <p:spPr>
          <a:xfrm>
            <a:off x="9332735" y="4366717"/>
            <a:ext cx="1419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⸰ Fewer Iteration</a:t>
            </a:r>
            <a:endParaRPr lang="en-US" altLang="ko-KR" sz="1000" dirty="0"/>
          </a:p>
          <a:p>
            <a:r>
              <a:rPr lang="en-US" altLang="ko-KR" sz="1000" dirty="0">
                <a:solidFill>
                  <a:schemeClr val="tx1"/>
                </a:solidFill>
              </a:rPr>
              <a:t>⸰ Almost Real Time</a:t>
            </a:r>
            <a:endParaRPr lang="en-US" altLang="ko-KR" sz="1000" dirty="0"/>
          </a:p>
        </p:txBody>
      </p:sp>
      <p:sp>
        <p:nvSpPr>
          <p:cNvPr id="18" name="화살표: 아래쪽 21">
            <a:extLst>
              <a:ext uri="{FF2B5EF4-FFF2-40B4-BE49-F238E27FC236}">
                <a16:creationId xmlns:a16="http://schemas.microsoft.com/office/drawing/2014/main" id="{5CD99549-5578-D117-88F9-24E7A8CA8359}"/>
              </a:ext>
            </a:extLst>
          </p:cNvPr>
          <p:cNvSpPr/>
          <p:nvPr/>
        </p:nvSpPr>
        <p:spPr>
          <a:xfrm rot="5400000">
            <a:off x="8560719" y="3700218"/>
            <a:ext cx="176213" cy="637805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70476C-8BDD-73E3-FC12-5B0A21BC56A0}"/>
              </a:ext>
            </a:extLst>
          </p:cNvPr>
          <p:cNvSpPr/>
          <p:nvPr/>
        </p:nvSpPr>
        <p:spPr>
          <a:xfrm>
            <a:off x="6543574" y="3765043"/>
            <a:ext cx="1595436" cy="5143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Quantum</a:t>
            </a:r>
          </a:p>
          <a:p>
            <a:pPr algn="ctr"/>
            <a:r>
              <a:rPr lang="en-US" altLang="ko-KR" sz="1500" dirty="0">
                <a:solidFill>
                  <a:schemeClr val="tx1"/>
                </a:solidFill>
              </a:rPr>
              <a:t>Hardware</a:t>
            </a:r>
            <a:endParaRPr lang="ko-KR" altLang="en-US" sz="1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A8606C-E3E0-9BDA-8899-7BBF311A7043}"/>
              </a:ext>
            </a:extLst>
          </p:cNvPr>
          <p:cNvSpPr txBox="1"/>
          <p:nvPr/>
        </p:nvSpPr>
        <p:spPr>
          <a:xfrm>
            <a:off x="8384193" y="4065267"/>
            <a:ext cx="1419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Update</a:t>
            </a:r>
          </a:p>
          <a:p>
            <a:r>
              <a:rPr lang="en-US" altLang="ko-KR" sz="1000" dirty="0"/>
              <a:t>Parameter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6EB21-0AB9-B420-8617-3D09873FBDAF}"/>
              </a:ext>
            </a:extLst>
          </p:cNvPr>
          <p:cNvSpPr txBox="1"/>
          <p:nvPr/>
        </p:nvSpPr>
        <p:spPr>
          <a:xfrm>
            <a:off x="6745454" y="2912135"/>
            <a:ext cx="1419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tx1"/>
                </a:solidFill>
              </a:rPr>
              <a:t>⸰ Satisfied Fidelity</a:t>
            </a:r>
            <a:endParaRPr lang="en-US" altLang="ko-KR" sz="1000" dirty="0"/>
          </a:p>
          <a:p>
            <a:r>
              <a:rPr lang="en-US" altLang="ko-KR" sz="1000" dirty="0">
                <a:solidFill>
                  <a:schemeClr val="tx1"/>
                </a:solidFill>
              </a:rPr>
              <a:t>⸰ Minimize Time</a:t>
            </a:r>
            <a:endParaRPr lang="en-US" altLang="ko-KR" sz="1000" dirty="0"/>
          </a:p>
        </p:txBody>
      </p:sp>
      <p:sp>
        <p:nvSpPr>
          <p:cNvPr id="22" name="화살표: 아래로 구부러짐 25">
            <a:extLst>
              <a:ext uri="{FF2B5EF4-FFF2-40B4-BE49-F238E27FC236}">
                <a16:creationId xmlns:a16="http://schemas.microsoft.com/office/drawing/2014/main" id="{0A6AA5F5-C785-C4EB-1257-74446DA6A957}"/>
              </a:ext>
            </a:extLst>
          </p:cNvPr>
          <p:cNvSpPr/>
          <p:nvPr/>
        </p:nvSpPr>
        <p:spPr>
          <a:xfrm rot="19080109">
            <a:off x="7891093" y="3084590"/>
            <a:ext cx="1270006" cy="233254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화살표: 아래로 구부러짐 26">
            <a:extLst>
              <a:ext uri="{FF2B5EF4-FFF2-40B4-BE49-F238E27FC236}">
                <a16:creationId xmlns:a16="http://schemas.microsoft.com/office/drawing/2014/main" id="{9F5438D2-E70C-404E-666D-3F795C8F5DCF}"/>
              </a:ext>
            </a:extLst>
          </p:cNvPr>
          <p:cNvSpPr/>
          <p:nvPr/>
        </p:nvSpPr>
        <p:spPr>
          <a:xfrm>
            <a:off x="8119960" y="3473118"/>
            <a:ext cx="1099898" cy="233254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별: 꼭짓점 5개 27">
            <a:extLst>
              <a:ext uri="{FF2B5EF4-FFF2-40B4-BE49-F238E27FC236}">
                <a16:creationId xmlns:a16="http://schemas.microsoft.com/office/drawing/2014/main" id="{664A6ED1-6B79-A87B-7327-AF47CCA11F39}"/>
              </a:ext>
            </a:extLst>
          </p:cNvPr>
          <p:cNvSpPr/>
          <p:nvPr/>
        </p:nvSpPr>
        <p:spPr>
          <a:xfrm>
            <a:off x="4178809" y="2445933"/>
            <a:ext cx="125446" cy="12544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03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8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06FD5E-4DDE-0508-B1A1-2B2163B31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ore-KR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Spin control </a:t>
            </a:r>
            <a:r>
              <a:rPr kumimoji="1" lang="ko-KR" alt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방법론적 개발</a:t>
            </a:r>
            <a:r>
              <a:rPr kumimoji="1" lang="en-US" altLang="ko-KR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(Single NV spin)</a:t>
            </a:r>
            <a:endParaRPr kumimoji="1" lang="en-US" altLang="en-US" sz="3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B294D2-9F99-BFE9-D3D6-63D535A55C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2" r="4" b="2353"/>
          <a:stretch/>
        </p:blipFill>
        <p:spPr>
          <a:xfrm>
            <a:off x="6930493" y="1412155"/>
            <a:ext cx="4223252" cy="4093973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120B09-D162-33A8-C35E-6D4BA9FD7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0598" y="3429000"/>
            <a:ext cx="4991629" cy="2277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sz="1800" dirty="0"/>
              <a:t>|0&gt;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state</a:t>
            </a:r>
            <a:r>
              <a:rPr kumimoji="1" lang="ko-KR" altLang="en-US" sz="1800" dirty="0"/>
              <a:t>로 초기화 되어있는 </a:t>
            </a:r>
            <a:r>
              <a:rPr kumimoji="1" lang="en-US" altLang="ko-KR" sz="1800" dirty="0"/>
              <a:t>NV spin</a:t>
            </a:r>
            <a:r>
              <a:rPr kumimoji="1" lang="ko-KR" altLang="en-US" sz="1800" dirty="0"/>
              <a:t>을 </a:t>
            </a:r>
            <a:r>
              <a:rPr kumimoji="1" lang="en-US" altLang="ko-KR" sz="1800" dirty="0"/>
              <a:t>pulse</a:t>
            </a:r>
            <a:r>
              <a:rPr kumimoji="1" lang="ko-KR" altLang="en-US" sz="1800" dirty="0" err="1"/>
              <a:t>를</a:t>
            </a:r>
            <a:r>
              <a:rPr kumimoji="1" lang="ko-KR" altLang="en-US" sz="1800" dirty="0"/>
              <a:t> 이용하여 최단시간 내에 원하는 상태로 보내는 코드를 개발한다</a:t>
            </a:r>
            <a:r>
              <a:rPr kumimoji="1" lang="en-US" altLang="ko-KR" sz="1800" dirty="0"/>
              <a:t>.</a:t>
            </a:r>
          </a:p>
          <a:p>
            <a:r>
              <a:rPr kumimoji="1" lang="en-US" altLang="ko-KR" sz="1800" dirty="0"/>
              <a:t>Single qubit</a:t>
            </a:r>
            <a:r>
              <a:rPr kumimoji="1" lang="ko-KR" altLang="en-US" sz="1800" dirty="0"/>
              <a:t> 대해서 성공한 후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12Carbon-Nuclear spin</a:t>
            </a:r>
            <a:r>
              <a:rPr kumimoji="1" lang="ko-KR" altLang="en-US" sz="1800" dirty="0"/>
              <a:t>에 적용한다</a:t>
            </a:r>
            <a:r>
              <a:rPr kumimoji="1" lang="en-US" altLang="ko-KR" sz="1800" dirty="0"/>
              <a:t>.</a:t>
            </a:r>
            <a:endParaRPr kumimoji="1"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1430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55306C-9D74-C18A-9888-79EEBB72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ore-KR" sz="3300"/>
              <a:t>Spin control </a:t>
            </a:r>
            <a:r>
              <a:rPr kumimoji="1" lang="ko-KR" altLang="en-US" sz="3300"/>
              <a:t>방법론적 개발</a:t>
            </a:r>
            <a:r>
              <a:rPr kumimoji="1" lang="en-US" altLang="ko-KR" sz="3300"/>
              <a:t> (Single NV spin)</a:t>
            </a:r>
            <a:endParaRPr kumimoji="1" lang="en-US" altLang="en-US" sz="330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3834CC-0ACD-CC9B-8F2C-DA1BE03E5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만약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spin</a:t>
            </a:r>
            <a:r>
              <a:rPr kumimoji="1" lang="ko-KR" altLang="en-US" dirty="0"/>
              <a:t>을 중첩상태로 보내고 싶다면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+x</a:t>
            </a:r>
            <a:r>
              <a:rPr kumimoji="1" lang="ko-KR" altLang="en-US" dirty="0"/>
              <a:t>축 </a:t>
            </a:r>
            <a:r>
              <a:rPr kumimoji="1" lang="en-US" altLang="ko-KR" dirty="0"/>
              <a:t>pulse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가하면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최단경로로 이동할 수 있을 것이다</a:t>
            </a:r>
            <a:r>
              <a:rPr kumimoji="1" lang="en-US" altLang="ko-KR" dirty="0"/>
              <a:t>.</a:t>
            </a:r>
            <a:endParaRPr kumimoji="1" lang="en-US" alt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E2BB38E6-D4E2-74FD-8897-D3E160BBD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973" y="1569998"/>
            <a:ext cx="3980759" cy="39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01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1724E-9135-29B6-ED77-B3D41F634B51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ore-KR" sz="2000" dirty="0"/>
              <a:t>+x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방향의 </a:t>
            </a:r>
            <a:r>
              <a:rPr kumimoji="1" lang="en-US" altLang="ko-KR" sz="2000" dirty="0"/>
              <a:t>pulse</a:t>
            </a:r>
            <a:r>
              <a:rPr kumimoji="1" lang="ko-KR" altLang="en-US" sz="2000" dirty="0" err="1"/>
              <a:t>를</a:t>
            </a:r>
            <a:r>
              <a:rPr kumimoji="1" lang="en-US" altLang="ko-KR" sz="2000" dirty="0"/>
              <a:t> pi/2</a:t>
            </a:r>
            <a:r>
              <a:rPr kumimoji="1" lang="ko-KR" altLang="en-US" sz="2000" dirty="0"/>
              <a:t>만큼 회전하게 </a:t>
            </a:r>
            <a:r>
              <a:rPr kumimoji="1" lang="ko-KR" altLang="en-US" sz="2000" dirty="0" err="1"/>
              <a:t>쏴준다면</a:t>
            </a:r>
            <a:r>
              <a:rPr kumimoji="1" lang="ko-KR" altLang="en-US" sz="2000" dirty="0"/>
              <a:t> 이와 같은 경로로 이동하게 됩니다</a:t>
            </a:r>
            <a:r>
              <a:rPr kumimoji="1" lang="en-US" altLang="ko-KR" sz="2000" dirty="0"/>
              <a:t>.</a:t>
            </a:r>
            <a:endParaRPr kumimoji="1" lang="en-US" alt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255D73-F9C9-71D3-F9D9-9B636EE17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B82DD-95D2-8117-1A74-7FA87C58C1D8}"/>
              </a:ext>
            </a:extLst>
          </p:cNvPr>
          <p:cNvSpPr txBox="1"/>
          <p:nvPr/>
        </p:nvSpPr>
        <p:spPr>
          <a:xfrm>
            <a:off x="523059" y="996289"/>
            <a:ext cx="44397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Spin control </a:t>
            </a:r>
            <a:r>
              <a:rPr kumimoji="1" lang="ko-KR" altLang="en-US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방법론적 개발</a:t>
            </a:r>
            <a:r>
              <a:rPr kumimoji="1" lang="en-US" altLang="ko-KR" sz="3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(Single NV spin)</a:t>
            </a:r>
            <a:endParaRPr kumimoji="1" lang="ko-Kore-KR" altLang="en-US" sz="3300" dirty="0"/>
          </a:p>
        </p:txBody>
      </p:sp>
    </p:spTree>
    <p:extLst>
      <p:ext uri="{BB962C8B-B14F-4D97-AF65-F5344CB8AC3E}">
        <p14:creationId xmlns:p14="http://schemas.microsoft.com/office/powerpoint/2010/main" val="90986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DAF2DE-5974-ED5E-6799-D3F72CC5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en-US" altLang="ko-Kore-KR" sz="3700" kern="1200" dirty="0">
                <a:latin typeface="+mj-lt"/>
                <a:ea typeface="+mj-ea"/>
                <a:cs typeface="+mj-cs"/>
              </a:rPr>
              <a:t>Spin control </a:t>
            </a:r>
            <a:r>
              <a:rPr kumimoji="1" lang="ko-KR" altLang="en-US" sz="3700" kern="1200" dirty="0">
                <a:latin typeface="+mj-lt"/>
                <a:ea typeface="+mj-ea"/>
                <a:cs typeface="+mj-cs"/>
              </a:rPr>
              <a:t>방법론적 개발</a:t>
            </a:r>
            <a:r>
              <a:rPr kumimoji="1" lang="en-US" altLang="ko-KR" sz="3700" kern="1200" dirty="0">
                <a:latin typeface="+mj-lt"/>
                <a:ea typeface="+mj-ea"/>
                <a:cs typeface="+mj-cs"/>
              </a:rPr>
              <a:t> (Single NV spin)</a:t>
            </a:r>
            <a:endParaRPr kumimoji="1" lang="ko-Kore-KR" altLang="en-US" sz="37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81CED-7EF7-C902-1C7D-AB1B3876A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kumimoji="1" lang="ko-Kore-KR" altLang="en-US" sz="2000" dirty="0"/>
              <a:t>하지만</a:t>
            </a:r>
            <a:r>
              <a:rPr kumimoji="1" lang="en-US" altLang="ko-Kore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Detuning</a:t>
            </a:r>
            <a:r>
              <a:rPr kumimoji="1" lang="ko-KR" altLang="en-US" sz="2000" dirty="0"/>
              <a:t>에 의해 </a:t>
            </a:r>
            <a:r>
              <a:rPr kumimoji="1" lang="en-US" altLang="ko-KR" sz="2000" dirty="0"/>
              <a:t>+z</a:t>
            </a:r>
            <a:r>
              <a:rPr kumimoji="1" lang="ko-KR" altLang="en-US" sz="2000" dirty="0"/>
              <a:t> 회전이 발생하는 시스템이라면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그림과 같이 원하는 상태로 보낼 수 없게 된다</a:t>
            </a:r>
            <a:r>
              <a:rPr kumimoji="1" lang="en-US" altLang="ko-KR" sz="2000" dirty="0"/>
              <a:t>.</a:t>
            </a:r>
            <a:endParaRPr kumimoji="1" lang="ko-Kore-KR" altLang="en-US" sz="2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72AC6C-79B3-F933-D92D-154437AC0E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5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302FFA4-82B4-B14E-8850-39E409F2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ore-KR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Detunning</a:t>
            </a:r>
            <a:r>
              <a:rPr kumimoji="1" lang="en-US" altLang="ko-KR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kumimoji="1" lang="en-US" alt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A31BBE-7164-8A39-313F-A87C987EBC1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31525" y="2754284"/>
                <a:ext cx="9428201" cy="2375239"/>
              </a:xfrm>
            </p:spPr>
            <p:txBody>
              <a:bodyPr>
                <a:normAutofit/>
              </a:bodyPr>
              <a:lstStyle/>
              <a:p>
                <a:pPr marL="146304" indent="-146304" defTabSz="585216">
                  <a:spcBef>
                    <a:spcPts val="640"/>
                  </a:spcBef>
                </a:pPr>
                <a14:m>
                  <m:oMath xmlns:m="http://schemas.openxmlformats.org/officeDocument/2006/math">
                    <m:r>
                      <a:rPr lang="x-none" altLang="ko-Kore-KR" sz="3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ko-Kore-KR" sz="3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ore-KR" sz="3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ko-Kore-KR" sz="3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altLang="ko-Kore-KR" sz="320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ore-KR" sz="3200" kern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46304" indent="-146304" defTabSz="585216">
                  <a:spcBef>
                    <a:spcPts val="64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x-none" altLang="ko-Kore-KR" sz="3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𝑑𝑒𝑡𝑢𝑛𝑛𝑖𝑛𝑔</m:t>
                        </m:r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𝑡𝑒𝑟𝑚</m:t>
                        </m:r>
                      </m:e>
                    </m:d>
                  </m:oMath>
                </a14:m>
                <a:endParaRPr kumimoji="1" lang="en-US" altLang="ko-Kore-KR" sz="3200" kern="1200" dirty="0">
                  <a:solidFill>
                    <a:schemeClr val="tx1"/>
                  </a:solidFill>
                </a:endParaRPr>
              </a:p>
              <a:p>
                <a:pPr marL="146304" indent="-146304" defTabSz="585216">
                  <a:spcBef>
                    <a:spcPts val="64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x-none" altLang="ko-Kore-KR" sz="3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x-none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x-none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x-none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x-none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x-none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x-none" altLang="ko-Kore-KR" sz="3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x-none" altLang="ko-Kore-KR" sz="3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x-none" altLang="ko-Kore-KR" sz="320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ore-KR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𝑐𝑜𝑛𝑡𝑟𝑜𝑙</m:t>
                        </m:r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ore-KR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𝑡𝑒𝑟𝑚</m:t>
                        </m:r>
                      </m:e>
                    </m:d>
                  </m:oMath>
                </a14:m>
                <a:endParaRPr kumimoji="1" lang="ko-Kore-KR" altLang="en-US" sz="32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A31BBE-7164-8A39-313F-A87C987EB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31525" y="2754284"/>
                <a:ext cx="9428201" cy="2375239"/>
              </a:xfrm>
              <a:blipFill>
                <a:blip r:embed="rId3"/>
                <a:stretch>
                  <a:fillRect l="-1478" t="-4255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7614A3-C100-859E-0043-B113EF02A7DC}"/>
                  </a:ext>
                </a:extLst>
              </p:cNvPr>
              <p:cNvSpPr txBox="1"/>
              <p:nvPr/>
            </p:nvSpPr>
            <p:spPr>
              <a:xfrm>
                <a:off x="5197642" y="4809395"/>
                <a:ext cx="5150469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85216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16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16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x-none" altLang="ko-Kore-KR" sz="16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ko-Kore-KR" sz="1600" kern="1200" dirty="0">
                    <a:solidFill>
                      <a:schemeClr val="tx1"/>
                    </a:solidFill>
                  </a:rPr>
                  <a:t> = 0.15 rad/</a:t>
                </a:r>
                <a:r>
                  <a:rPr kumimoji="1" lang="en-US" altLang="ko-Kore-KR" sz="1600" kern="1200" dirty="0" err="1">
                    <a:solidFill>
                      <a:schemeClr val="tx1"/>
                    </a:solidFill>
                  </a:rPr>
                  <a:t>ms</a:t>
                </a:r>
                <a:endParaRPr kumimoji="1" lang="en-US" altLang="ko-Kore-KR" sz="1600" kern="1200" dirty="0">
                  <a:solidFill>
                    <a:schemeClr val="tx1"/>
                  </a:solidFill>
                </a:endParaRPr>
              </a:p>
              <a:p>
                <a:pPr defTabSz="585216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16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16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x-none" altLang="ko-Kore-KR" sz="16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ko-Kore-KR" sz="1600" kern="1200" dirty="0">
                    <a:solidFill>
                      <a:schemeClr val="tx1"/>
                    </a:solidFill>
                  </a:rPr>
                  <a:t> = 0.02 rad/</a:t>
                </a:r>
                <a:r>
                  <a:rPr kumimoji="1" lang="en-US" altLang="ko-Kore-KR" sz="1600" kern="1200" dirty="0" err="1">
                    <a:solidFill>
                      <a:schemeClr val="tx1"/>
                    </a:solidFill>
                  </a:rPr>
                  <a:t>ms</a:t>
                </a:r>
                <a:endParaRPr kumimoji="1" lang="en-US" altLang="ko-Kore-KR" sz="1600" kern="1200" dirty="0">
                  <a:solidFill>
                    <a:schemeClr val="tx1"/>
                  </a:solidFill>
                </a:endParaRPr>
              </a:p>
              <a:p>
                <a:pPr defTabSz="585216">
                  <a:spcAft>
                    <a:spcPts val="600"/>
                  </a:spcAft>
                </a:pPr>
                <a:r>
                  <a:rPr kumimoji="1" lang="en-US" altLang="ko-Kore-KR" sz="1600" kern="1200" dirty="0">
                    <a:solidFill>
                      <a:schemeClr val="tx1"/>
                    </a:solidFill>
                  </a:rPr>
                  <a:t>c(t)</a:t>
                </a:r>
                <a:r>
                  <a:rPr kumimoji="1" lang="ko-Kore-KR" altLang="en-US" sz="1600" kern="1200" dirty="0">
                    <a:solidFill>
                      <a:schemeClr val="tx1"/>
                    </a:solidFill>
                  </a:rPr>
                  <a:t>는</a:t>
                </a:r>
                <a:r>
                  <a:rPr kumimoji="1" lang="ko-KR" altLang="en-US" sz="1600" kern="1200" dirty="0">
                    <a:solidFill>
                      <a:schemeClr val="tx1"/>
                    </a:solidFill>
                  </a:rPr>
                  <a:t> 시간에 따른 </a:t>
                </a:r>
                <a:r>
                  <a:rPr kumimoji="1" lang="en-US" altLang="ko-KR" sz="1600" kern="1200" dirty="0">
                    <a:solidFill>
                      <a:schemeClr val="tx1"/>
                    </a:solidFill>
                  </a:rPr>
                  <a:t>pulse</a:t>
                </a:r>
                <a:r>
                  <a:rPr kumimoji="1" lang="ko-KR" altLang="en-US" sz="1600" kern="1200" dirty="0">
                    <a:solidFill>
                      <a:schemeClr val="tx1"/>
                    </a:solidFill>
                  </a:rPr>
                  <a:t>의 방향을 선택하는 </a:t>
                </a:r>
                <a:r>
                  <a:rPr kumimoji="1" lang="en-US" altLang="ko-KR" sz="1600" dirty="0"/>
                  <a:t>step function</a:t>
                </a:r>
                <a:r>
                  <a:rPr kumimoji="1" lang="ko-KR" altLang="en-US" sz="1600" kern="12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ko-KR" sz="1600" kern="1200" dirty="0">
                    <a:solidFill>
                      <a:schemeClr val="tx1"/>
                    </a:solidFill>
                  </a:rPr>
                  <a:t>-&gt;</a:t>
                </a:r>
                <a:r>
                  <a:rPr kumimoji="1" lang="ko-KR" altLang="en-US" sz="1600" kern="1200" dirty="0">
                    <a:solidFill>
                      <a:schemeClr val="tx1"/>
                    </a:solidFill>
                  </a:rPr>
                  <a:t>각 </a:t>
                </a:r>
                <a:r>
                  <a:rPr kumimoji="1" lang="en-US" altLang="ko-KR" sz="1600" kern="1200" dirty="0">
                    <a:solidFill>
                      <a:schemeClr val="tx1"/>
                    </a:solidFill>
                  </a:rPr>
                  <a:t>step</a:t>
                </a:r>
                <a:r>
                  <a:rPr kumimoji="1" lang="ko-KR" altLang="en-US" sz="1600" dirty="0"/>
                  <a:t>마다 </a:t>
                </a:r>
                <a:r>
                  <a:rPr kumimoji="1" lang="en-US" altLang="ko-KR" sz="1600" kern="1200" dirty="0">
                    <a:solidFill>
                      <a:schemeClr val="tx1"/>
                    </a:solidFill>
                  </a:rPr>
                  <a:t>-1,0,+1</a:t>
                </a:r>
                <a:r>
                  <a:rPr kumimoji="1" lang="ko-KR" altLang="en-US" sz="1600" kern="1200" dirty="0">
                    <a:solidFill>
                      <a:schemeClr val="tx1"/>
                    </a:solidFill>
                  </a:rPr>
                  <a:t> 값 중에서 하나를 갖는다</a:t>
                </a:r>
                <a:r>
                  <a:rPr kumimoji="1" lang="en-US" altLang="ko-KR" sz="1600" kern="1200" dirty="0">
                    <a:solidFill>
                      <a:schemeClr val="tx1"/>
                    </a:solidFill>
                  </a:rPr>
                  <a:t>.</a:t>
                </a:r>
                <a:endParaRPr kumimoji="1" lang="ko-Kore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7614A3-C100-859E-0043-B113EF02A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642" y="4809395"/>
                <a:ext cx="5150469" cy="1231106"/>
              </a:xfrm>
              <a:prstGeom prst="rect">
                <a:avLst/>
              </a:prstGeom>
              <a:blipFill>
                <a:blip r:embed="rId4"/>
                <a:stretch>
                  <a:fillRect l="-737" t="-1020" b="-5102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391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76DEE7-652C-0378-F38A-B75B22E9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en-US" altLang="ko-Kore-KR" sz="4800"/>
              <a:t>Detunning term</a:t>
            </a:r>
            <a:r>
              <a:rPr kumimoji="1" lang="ko-KR" altLang="en-US" sz="4800"/>
              <a:t>을 넣어서 계산하는 이유</a:t>
            </a:r>
            <a:endParaRPr kumimoji="1" lang="ko-Kore-KR" altLang="en-US" sz="4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9763B2-2045-4E07-8764-3764530FAB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3631" y="2787602"/>
                <a:ext cx="9941319" cy="3124658"/>
              </a:xfrm>
            </p:spPr>
            <p:txBody>
              <a:bodyPr anchor="ctr">
                <a:normAutofit/>
              </a:bodyPr>
              <a:lstStyle/>
              <a:p>
                <a:endParaRPr kumimoji="1" lang="en-US" altLang="ko-Kore-KR" sz="2200" dirty="0"/>
              </a:p>
              <a:p>
                <a:endParaRPr kumimoji="1" lang="en-US" altLang="ko-Kore-KR" sz="2200" dirty="0"/>
              </a:p>
              <a:p>
                <a:r>
                  <a:rPr kumimoji="1" lang="ko-KR" altLang="en-US" sz="2200" dirty="0"/>
                  <a:t>실제 실험 셋업에서 </a:t>
                </a:r>
                <a:r>
                  <a:rPr kumimoji="1" lang="en-US" altLang="ko-KR" sz="2200" dirty="0"/>
                  <a:t>Spin control</a:t>
                </a:r>
                <a:r>
                  <a:rPr kumimoji="1" lang="ko-KR" altLang="en-US" sz="2200" dirty="0"/>
                  <a:t>은</a:t>
                </a:r>
                <a:r>
                  <a:rPr kumimoji="1" lang="en-US" altLang="ko-KR" sz="2200" dirty="0"/>
                  <a:t> </a:t>
                </a:r>
                <a:r>
                  <a:rPr kumimoji="1" lang="ko-KR" altLang="en-US" sz="2200" dirty="0"/>
                  <a:t>다양한 노이즈가 존재</a:t>
                </a:r>
                <a:r>
                  <a:rPr kumimoji="1" lang="en-US" altLang="ko-KR" sz="2200" dirty="0"/>
                  <a:t>.</a:t>
                </a:r>
              </a:p>
              <a:p>
                <a:pPr marL="0" indent="0"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</a:t>
                </a:r>
                <a:r>
                  <a:rPr kumimoji="1" lang="ko-Kore-KR" altLang="en-US" sz="2200" dirty="0"/>
                  <a:t>노이즈</a:t>
                </a:r>
                <a:r>
                  <a:rPr kumimoji="1" lang="ko-KR" altLang="en-US" sz="2200" dirty="0"/>
                  <a:t> 환경에서 원하는 게이트를 구현</a:t>
                </a:r>
                <a:r>
                  <a:rPr kumimoji="1" lang="en-US" altLang="ko-KR" sz="2200" dirty="0"/>
                  <a:t>.</a:t>
                </a:r>
              </a:p>
              <a:p>
                <a:pPr marL="0" indent="0">
                  <a:buNone/>
                </a:pPr>
                <a:endParaRPr kumimoji="1" lang="en-US" altLang="ko-KR" sz="2200" dirty="0"/>
              </a:p>
              <a:p>
                <a:r>
                  <a:rPr kumimoji="1" lang="en-US" altLang="ko-KR" sz="2200" dirty="0"/>
                  <a:t>13Carbon Nuclear Spin</a:t>
                </a:r>
                <a:r>
                  <a:rPr kumimoji="1" lang="ko-KR" altLang="en-US" sz="2200" dirty="0"/>
                  <a:t> 컨트롤에서는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ore-KR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ko-Kore-KR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2200" dirty="0"/>
                  <a:t>와</a:t>
                </a:r>
                <a:r>
                  <a:rPr lang="x-none" altLang="ko-Kore-KR" sz="220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x-none" altLang="ko-Kore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ko-Kore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x-none" altLang="ko-Kore-KR" sz="2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en-US" altLang="ko-KR" sz="2200" dirty="0"/>
                  <a:t> term</a:t>
                </a:r>
                <a:r>
                  <a:rPr kumimoji="1" lang="ko-KR" altLang="en-US" sz="2200" dirty="0"/>
                  <a:t>존재</a:t>
                </a:r>
                <a:r>
                  <a:rPr kumimoji="1" lang="en-US" altLang="ko-KR" sz="2200" dirty="0"/>
                  <a:t>.</a:t>
                </a:r>
              </a:p>
              <a:p>
                <a:pPr marL="0" indent="0">
                  <a:buNone/>
                </a:pPr>
                <a:r>
                  <a:rPr kumimoji="1" lang="en-US" altLang="ko-KR" sz="2200" dirty="0">
                    <a:sym typeface="Wingdings" pitchFamily="2" charset="2"/>
                  </a:rPr>
                  <a:t></a:t>
                </a:r>
                <a:r>
                  <a:rPr kumimoji="1" lang="ko-KR" altLang="en-US" sz="2200" dirty="0">
                    <a:sym typeface="Wingdings" pitchFamily="2" charset="2"/>
                  </a:rPr>
                  <a:t> </a:t>
                </a:r>
                <a:r>
                  <a:rPr kumimoji="1" lang="ko-KR" altLang="en-US" sz="2200" dirty="0"/>
                  <a:t>이를 단순화한 문제에서</a:t>
                </a:r>
                <a:r>
                  <a:rPr kumimoji="1" lang="en-US" altLang="ko-KR" sz="2200" dirty="0"/>
                  <a:t>,</a:t>
                </a:r>
                <a:r>
                  <a:rPr kumimoji="1" lang="ko-KR" altLang="en-US" sz="2200" dirty="0"/>
                  <a:t> 테스트</a:t>
                </a:r>
                <a:r>
                  <a:rPr kumimoji="1" lang="en-US" altLang="ko-KR" sz="2200" dirty="0"/>
                  <a:t> </a:t>
                </a:r>
                <a:r>
                  <a:rPr kumimoji="1" lang="ko-KR" altLang="en-US" sz="2200" dirty="0"/>
                  <a:t>하기</a:t>
                </a:r>
                <a:r>
                  <a:rPr kumimoji="1" lang="en-US" altLang="ko-KR" sz="2200" dirty="0"/>
                  <a:t> </a:t>
                </a:r>
                <a:r>
                  <a:rPr kumimoji="1" lang="ko-KR" altLang="en-US" sz="2200" dirty="0"/>
                  <a:t>위함</a:t>
                </a:r>
                <a:r>
                  <a:rPr kumimoji="1" lang="en-US" altLang="ko-KR" sz="2200" dirty="0"/>
                  <a:t>.</a:t>
                </a:r>
                <a:endParaRPr kumimoji="1" lang="ko-Kore-KR" altLang="en-US" sz="22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9763B2-2045-4E07-8764-3764530FAB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3631" y="2787602"/>
                <a:ext cx="9941319" cy="3124658"/>
              </a:xfrm>
              <a:blipFill>
                <a:blip r:embed="rId3"/>
                <a:stretch>
                  <a:fillRect l="-766" b="-161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142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9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17640B-0B16-91DF-D90E-B144D368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ore-KR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Hamiltonian</a:t>
            </a:r>
            <a:r>
              <a:rPr kumimoji="1" lang="en-US" alt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에</a:t>
            </a:r>
            <a:r>
              <a:rPr kumimoji="1" lang="en-US" altLang="ko-KR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ko-KR" alt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의한 회전축</a:t>
            </a:r>
            <a:endParaRPr kumimoji="1" lang="en-US" alt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그림 12" descr="원, 도표, 라인, 디자인이(가) 표시된 사진&#10;&#10;자동 생성된 설명">
            <a:extLst>
              <a:ext uri="{FF2B5EF4-FFF2-40B4-BE49-F238E27FC236}">
                <a16:creationId xmlns:a16="http://schemas.microsoft.com/office/drawing/2014/main" id="{3F5DE5FC-0396-EB35-CAFB-F8825BBD9F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21" r="-4" b="-4"/>
          <a:stretch/>
        </p:blipFill>
        <p:spPr>
          <a:xfrm>
            <a:off x="5817300" y="408362"/>
            <a:ext cx="2507107" cy="2811320"/>
          </a:xfrm>
          <a:prstGeom prst="rect">
            <a:avLst/>
          </a:prstGeom>
        </p:spPr>
      </p:pic>
      <p:pic>
        <p:nvPicPr>
          <p:cNvPr id="5" name="내용 개체 틀 4" descr="원, 도표, 라인이(가) 표시된 사진&#10;&#10;자동 생성된 설명">
            <a:extLst>
              <a:ext uri="{FF2B5EF4-FFF2-40B4-BE49-F238E27FC236}">
                <a16:creationId xmlns:a16="http://schemas.microsoft.com/office/drawing/2014/main" id="{59077866-B2F0-A946-2D55-1D750EB004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786" b="-4"/>
          <a:stretch/>
        </p:blipFill>
        <p:spPr>
          <a:xfrm>
            <a:off x="509406" y="408362"/>
            <a:ext cx="2507982" cy="2811320"/>
          </a:xfrm>
          <a:prstGeom prst="rect">
            <a:avLst/>
          </a:prstGeom>
        </p:spPr>
      </p:pic>
      <p:pic>
        <p:nvPicPr>
          <p:cNvPr id="14" name="그림 13" descr="원, 도표, 라인이(가) 표시된 사진&#10;&#10;자동 생성된 설명">
            <a:extLst>
              <a:ext uri="{FF2B5EF4-FFF2-40B4-BE49-F238E27FC236}">
                <a16:creationId xmlns:a16="http://schemas.microsoft.com/office/drawing/2014/main" id="{3E078A29-AF98-1D78-BB23-C8F10AABC8A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06" r="8280" b="-4"/>
          <a:stretch/>
        </p:blipFill>
        <p:spPr>
          <a:xfrm>
            <a:off x="8456176" y="372080"/>
            <a:ext cx="2507982" cy="2811320"/>
          </a:xfrm>
          <a:prstGeom prst="rect">
            <a:avLst/>
          </a:prstGeom>
        </p:spPr>
      </p:pic>
      <p:pic>
        <p:nvPicPr>
          <p:cNvPr id="7" name="내용 개체 틀 6" descr="원, 도표, 라인이(가) 표시된 사진&#10;&#10;자동 생성된 설명">
            <a:extLst>
              <a:ext uri="{FF2B5EF4-FFF2-40B4-BE49-F238E27FC236}">
                <a16:creationId xmlns:a16="http://schemas.microsoft.com/office/drawing/2014/main" id="{736C1BE1-328C-C1DC-2A1C-AE2410F763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6"/>
          <a:srcRect l="10087" r="449" b="-4"/>
          <a:stretch/>
        </p:blipFill>
        <p:spPr>
          <a:xfrm>
            <a:off x="3146860" y="471318"/>
            <a:ext cx="2515016" cy="2811320"/>
          </a:xfrm>
          <a:prstGeom prst="rect">
            <a:avLst/>
          </a:prstGeom>
        </p:spPr>
      </p:pic>
      <p:sp>
        <p:nvSpPr>
          <p:cNvPr id="41" name="Rectangle 3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A6F8966-9626-D60A-489B-510CCB584F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162719" y="3930305"/>
                <a:ext cx="6586915" cy="2437244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= 0.02 rad/</a:t>
                </a:r>
                <a:r>
                  <a:rPr lang="el-GR" altLang="ko-Kore-KR" sz="2000" dirty="0"/>
                  <a:t>μ</a:t>
                </a:r>
                <a:r>
                  <a:rPr lang="en-US" sz="2000" dirty="0"/>
                  <a:t>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= 0.02 </a:t>
                </a:r>
                <a:r>
                  <a:rPr lang="en-US" altLang="ko-Kore-KR" sz="2000" dirty="0"/>
                  <a:t>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  <a:endParaRPr lang="en-US" sz="2000" dirty="0"/>
              </a:p>
            </p:txBody>
          </p:sp>
        </mc:Choice>
        <mc:Fallback xmlns="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A6F8966-9626-D60A-489B-510CCB584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62719" y="3930305"/>
                <a:ext cx="6586915" cy="2437244"/>
              </a:xfrm>
              <a:blipFill>
                <a:blip r:embed="rId7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74F0850-A2B0-5C69-4A0C-3AF2F2AAB0F6}"/>
              </a:ext>
            </a:extLst>
          </p:cNvPr>
          <p:cNvSpPr txBox="1"/>
          <p:nvPr/>
        </p:nvSpPr>
        <p:spPr>
          <a:xfrm>
            <a:off x="1265067" y="3146882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+x rotation</a:t>
            </a:r>
            <a:endParaRPr kumimoji="1" lang="ko-Kore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C127D2-3399-E79A-C772-A2A167CDC855}"/>
              </a:ext>
            </a:extLst>
          </p:cNvPr>
          <p:cNvSpPr txBox="1"/>
          <p:nvPr/>
        </p:nvSpPr>
        <p:spPr>
          <a:xfrm>
            <a:off x="3642721" y="3097972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-x rotation</a:t>
            </a:r>
            <a:endParaRPr kumimoji="1" lang="ko-Kore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DEDD84-F93B-86F9-1CA6-A6009B791887}"/>
              </a:ext>
            </a:extLst>
          </p:cNvPr>
          <p:cNvSpPr txBox="1"/>
          <p:nvPr/>
        </p:nvSpPr>
        <p:spPr>
          <a:xfrm>
            <a:off x="6287209" y="3063140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+y rotation</a:t>
            </a:r>
            <a:endParaRPr kumimoji="1" lang="ko-Kore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F80766-D7D0-C233-7852-2C24972CD5ED}"/>
              </a:ext>
            </a:extLst>
          </p:cNvPr>
          <p:cNvSpPr txBox="1"/>
          <p:nvPr/>
        </p:nvSpPr>
        <p:spPr>
          <a:xfrm>
            <a:off x="9203354" y="3035016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-y rotation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7284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17640B-0B16-91DF-D90E-B144D368E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ore-KR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Hamiltonian</a:t>
            </a:r>
            <a:r>
              <a:rPr kumimoji="1" lang="en-US" alt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에</a:t>
            </a:r>
            <a:r>
              <a:rPr kumimoji="1" lang="en-US" altLang="ko-KR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ko-KR" alt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의한 회전축</a:t>
            </a:r>
            <a:endParaRPr kumimoji="1" lang="en-US" alt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121E7C-6ECE-3209-B8EC-DFCA337633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21" r="-4" b="-4"/>
          <a:stretch/>
        </p:blipFill>
        <p:spPr>
          <a:xfrm>
            <a:off x="8973904" y="373264"/>
            <a:ext cx="2507107" cy="28113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07C34E6-E89E-FC8C-071C-523DC9E2A7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790" r="-4" b="-4"/>
          <a:stretch/>
        </p:blipFill>
        <p:spPr>
          <a:xfrm>
            <a:off x="3544829" y="380769"/>
            <a:ext cx="2507982" cy="281132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6F88110-8DC6-98AF-276E-0382EF1398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790" r="-4" b="-4"/>
          <a:stretch/>
        </p:blipFill>
        <p:spPr>
          <a:xfrm>
            <a:off x="6259368" y="380769"/>
            <a:ext cx="2507982" cy="28113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1DE5F9-46B0-8E17-2D24-D89C24ECCB7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540" r="-4" b="-4"/>
          <a:stretch/>
        </p:blipFill>
        <p:spPr>
          <a:xfrm>
            <a:off x="973373" y="373264"/>
            <a:ext cx="2515016" cy="281132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A6F8966-9626-D60A-489B-510CCB584F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162719" y="3930305"/>
                <a:ext cx="6586915" cy="2437244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0.15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0.02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</p:txBody>
          </p:sp>
        </mc:Choice>
        <mc:Fallback xmlns="">
          <p:sp>
            <p:nvSpPr>
              <p:cNvPr id="18" name="Content Placeholder 17">
                <a:extLst>
                  <a:ext uri="{FF2B5EF4-FFF2-40B4-BE49-F238E27FC236}">
                    <a16:creationId xmlns:a16="http://schemas.microsoft.com/office/drawing/2014/main" id="{FA6F8966-9626-D60A-489B-510CCB584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62719" y="3930305"/>
                <a:ext cx="6586915" cy="2437244"/>
              </a:xfrm>
              <a:blipFill>
                <a:blip r:embed="rId7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D48C592-A99A-F007-9D3F-3D936C0EC8EC}"/>
              </a:ext>
            </a:extLst>
          </p:cNvPr>
          <p:cNvSpPr txBox="1"/>
          <p:nvPr/>
        </p:nvSpPr>
        <p:spPr>
          <a:xfrm>
            <a:off x="9491793" y="3032833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-y rotation</a:t>
            </a:r>
            <a:endParaRPr kumimoji="1"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12F48-28E1-AC7E-F287-F568FD7F8B49}"/>
              </a:ext>
            </a:extLst>
          </p:cNvPr>
          <p:cNvSpPr txBox="1"/>
          <p:nvPr/>
        </p:nvSpPr>
        <p:spPr>
          <a:xfrm>
            <a:off x="4006278" y="3067665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-x rotation</a:t>
            </a:r>
            <a:endParaRPr kumimoji="1" lang="ko-Kore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663FFB-9153-85C0-87F2-798E4D3C1474}"/>
              </a:ext>
            </a:extLst>
          </p:cNvPr>
          <p:cNvSpPr txBox="1"/>
          <p:nvPr/>
        </p:nvSpPr>
        <p:spPr>
          <a:xfrm>
            <a:off x="6718346" y="3059350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+y rotation</a:t>
            </a:r>
            <a:endParaRPr kumimoji="1" lang="ko-Kore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67BC74-88B8-B9FD-7EC2-BEDDFDCEBD66}"/>
              </a:ext>
            </a:extLst>
          </p:cNvPr>
          <p:cNvSpPr txBox="1"/>
          <p:nvPr/>
        </p:nvSpPr>
        <p:spPr>
          <a:xfrm>
            <a:off x="1265067" y="3146882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+x rotation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00725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1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1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59B0A2-88F3-E0DB-172F-8F734423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ko-Kore-KR" altLang="en-US" sz="4800" dirty="0"/>
              <a:t>최적화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127B5B-89D9-86B8-75F2-4B442A2BF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kumimoji="1" lang="ko-Kore-KR" altLang="en-US" sz="2400" dirty="0"/>
              <a:t>시간에 따라서 </a:t>
            </a:r>
            <a:r>
              <a:rPr kumimoji="1" lang="en-US" altLang="ko-Kore-KR" sz="2400" dirty="0"/>
              <a:t>Hamiltonian</a:t>
            </a:r>
            <a:r>
              <a:rPr kumimoji="1" lang="ko-Kore-KR" altLang="en-US" sz="2400" dirty="0"/>
              <a:t>이 변화하므로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구간을 이산적으로 나눠서 순간마다 최적의 </a:t>
            </a:r>
            <a:r>
              <a:rPr kumimoji="1" lang="en-US" altLang="ko-Kore-KR" sz="2400" dirty="0"/>
              <a:t>pulse</a:t>
            </a:r>
            <a:r>
              <a:rPr kumimoji="1" lang="ko-Kore-KR" altLang="en-US" sz="2400" dirty="0"/>
              <a:t>를 찾는다</a:t>
            </a:r>
            <a:r>
              <a:rPr kumimoji="1" lang="en-US" altLang="ko-Kore-KR" sz="2400" dirty="0"/>
              <a:t>.</a:t>
            </a:r>
          </a:p>
          <a:p>
            <a:r>
              <a:rPr kumimoji="1" lang="en-US" altLang="ko-Kore-KR" sz="2400" dirty="0"/>
              <a:t>Global optimizer</a:t>
            </a:r>
            <a:r>
              <a:rPr kumimoji="1" lang="ko-Kore-KR" altLang="en-US" sz="2400" dirty="0"/>
              <a:t>를 사용하여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적절한 시간구간 </a:t>
            </a:r>
            <a:r>
              <a:rPr kumimoji="1" lang="en-US" altLang="ko-Kore-KR" sz="2400" dirty="0"/>
              <a:t>dt</a:t>
            </a:r>
            <a:r>
              <a:rPr kumimoji="1" lang="ko-Kore-KR" altLang="en-US" sz="2400" dirty="0"/>
              <a:t>를 찾는다</a:t>
            </a:r>
            <a:r>
              <a:rPr kumimoji="1" lang="en-US" altLang="ko-Kore-KR" sz="2400" dirty="0"/>
              <a:t>.</a:t>
            </a:r>
          </a:p>
          <a:p>
            <a:r>
              <a:rPr kumimoji="1" lang="en-US" altLang="ko-Kore-KR" sz="2400" dirty="0"/>
              <a:t>Fidelity</a:t>
            </a:r>
            <a:r>
              <a:rPr kumimoji="1" lang="ko-Kore-KR" altLang="en-US" sz="2400" dirty="0"/>
              <a:t>를 만족하면 탐색 중지</a:t>
            </a:r>
            <a:endParaRPr kumimoji="1" lang="en-US" altLang="ko-Kore-KR" sz="2400" dirty="0"/>
          </a:p>
          <a:p>
            <a:r>
              <a:rPr kumimoji="1" lang="en-US" altLang="ko-Kore-KR" sz="2400" dirty="0"/>
              <a:t>Fidelity = </a:t>
            </a:r>
          </a:p>
          <a:p>
            <a:endParaRPr kumimoji="1" lang="ko-Kore-KR" altLang="en-US" sz="2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4" descr="{\displaystyle F(\rho ,\sigma )=\left(\operatorname {tr} {\sqrt {{\sqrt {\rho }}\sigma {\sqrt {\rho }}}}\right)^{2}}">
            <a:extLst>
              <a:ext uri="{FF2B5EF4-FFF2-40B4-BE49-F238E27FC236}">
                <a16:creationId xmlns:a16="http://schemas.microsoft.com/office/drawing/2014/main" id="{BF168762-7988-09D8-4632-3A4E35F316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7" name="AutoShape 6" descr="{\displaystyle F(\rho ,\sigma )=\left(\operatorname {tr} {\sqrt {{\sqrt {\rho }}\sigma {\sqrt {\rho }}}}\right)^{2}}">
            <a:extLst>
              <a:ext uri="{FF2B5EF4-FFF2-40B4-BE49-F238E27FC236}">
                <a16:creationId xmlns:a16="http://schemas.microsoft.com/office/drawing/2014/main" id="{36BAC58A-0267-9679-8B71-88FB79670F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sp>
        <p:nvSpPr>
          <p:cNvPr id="8" name="AutoShape 8" descr="{\displaystyle F(\rho ,\sigma )=\left(\operatorname {tr} {\sqrt {{\sqrt {\rho }}\sigma {\sqrt {\rho }}}}\right)^{2}}">
            <a:extLst>
              <a:ext uri="{FF2B5EF4-FFF2-40B4-BE49-F238E27FC236}">
                <a16:creationId xmlns:a16="http://schemas.microsoft.com/office/drawing/2014/main" id="{3E03C6A7-E2F5-78E5-189B-B11D7F8479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ore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31102E-A20D-682E-8305-725618B7C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277" y="4849228"/>
            <a:ext cx="3099377" cy="81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977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159D8D-45D1-930A-38DF-A444E12FD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ko-Kore-KR" altLang="en-US" sz="4000" dirty="0"/>
              <a:t>최적화 방법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1FC53D-CC9C-8C5C-F025-E5318B72A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빨간색</a:t>
            </a:r>
            <a:r>
              <a:rPr lang="en-US" sz="2000" dirty="0"/>
              <a:t> </a:t>
            </a:r>
            <a:r>
              <a:rPr lang="en-US" altLang="ko-KR" sz="2000" dirty="0"/>
              <a:t>: initial state</a:t>
            </a:r>
          </a:p>
          <a:p>
            <a:r>
              <a:rPr lang="en-US" sz="2000" dirty="0" err="1"/>
              <a:t>초록색</a:t>
            </a:r>
            <a:r>
              <a:rPr lang="en-US" sz="2000" dirty="0"/>
              <a:t> </a:t>
            </a:r>
            <a:r>
              <a:rPr lang="en-US" altLang="ko-KR" sz="2000" dirty="0"/>
              <a:t>: target state</a:t>
            </a:r>
          </a:p>
          <a:p>
            <a:r>
              <a:rPr lang="en-US" sz="2000" dirty="0" err="1"/>
              <a:t>파란색</a:t>
            </a:r>
            <a:r>
              <a:rPr lang="en-US" sz="2000" dirty="0"/>
              <a:t> </a:t>
            </a:r>
            <a:r>
              <a:rPr lang="en-US" altLang="ko-KR" sz="2000" dirty="0"/>
              <a:t>: ideal rotation axis</a:t>
            </a:r>
          </a:p>
          <a:p>
            <a:endParaRPr lang="en-US" sz="2000" dirty="0"/>
          </a:p>
          <a:p>
            <a:r>
              <a:rPr lang="en-US" sz="2000" dirty="0" err="1"/>
              <a:t>빨간색</a:t>
            </a:r>
            <a:r>
              <a:rPr lang="en-US" sz="2000" dirty="0"/>
              <a:t> </a:t>
            </a:r>
            <a:r>
              <a:rPr lang="en-US" sz="2000" dirty="0" err="1"/>
              <a:t>벡터성분과</a:t>
            </a:r>
            <a:r>
              <a:rPr lang="en-US" sz="2000" dirty="0"/>
              <a:t> </a:t>
            </a:r>
            <a:r>
              <a:rPr lang="en-US" sz="2000" dirty="0" err="1"/>
              <a:t>초록색</a:t>
            </a:r>
            <a:r>
              <a:rPr lang="en-US" sz="2000" dirty="0"/>
              <a:t> </a:t>
            </a:r>
            <a:r>
              <a:rPr lang="en-US" sz="2000" dirty="0" err="1"/>
              <a:t>벡터성분의</a:t>
            </a:r>
            <a:r>
              <a:rPr lang="en-US" sz="2000" dirty="0"/>
              <a:t> </a:t>
            </a:r>
            <a:r>
              <a:rPr lang="en-US" sz="2000" dirty="0" err="1"/>
              <a:t>외적을</a:t>
            </a:r>
            <a:r>
              <a:rPr lang="en-US" sz="2000" dirty="0"/>
              <a:t> </a:t>
            </a:r>
            <a:r>
              <a:rPr lang="en-US" sz="2000" dirty="0" err="1"/>
              <a:t>통해</a:t>
            </a:r>
            <a:r>
              <a:rPr lang="en-US" sz="2000" dirty="0"/>
              <a:t> ideal rota</a:t>
            </a:r>
            <a:r>
              <a:rPr lang="en-US" altLang="ko-KR" sz="2000" dirty="0"/>
              <a:t>t</a:t>
            </a:r>
            <a:r>
              <a:rPr lang="en-US" sz="2000" dirty="0"/>
              <a:t>ion </a:t>
            </a:r>
            <a:r>
              <a:rPr lang="en-US" sz="2000" dirty="0" err="1"/>
              <a:t>axis를</a:t>
            </a:r>
            <a:r>
              <a:rPr lang="en-US" sz="2000" dirty="0"/>
              <a:t> </a:t>
            </a:r>
            <a:r>
              <a:rPr lang="en-US" sz="2000" dirty="0" err="1"/>
              <a:t>찾을</a:t>
            </a:r>
            <a:r>
              <a:rPr lang="en-US" sz="2000" dirty="0"/>
              <a:t> </a:t>
            </a:r>
            <a:r>
              <a:rPr lang="en-US" sz="2000" dirty="0" err="1"/>
              <a:t>수</a:t>
            </a:r>
            <a:r>
              <a:rPr lang="en-US" sz="2000" dirty="0"/>
              <a:t> </a:t>
            </a:r>
            <a:r>
              <a:rPr lang="en-US" sz="2000" dirty="0" err="1"/>
              <a:t>있다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E1213A4-A111-AEF9-572B-F004990A85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22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8599E8-8D15-B3E8-2D69-2BC8851C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kumimoji="1" lang="ko-Kore-KR" altLang="en-US" sz="3600"/>
              <a:t>최적화 방법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5E36B4-3A01-22D0-B5B2-E3B15279CE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21" r="-4" b="-4"/>
          <a:stretch/>
        </p:blipFill>
        <p:spPr>
          <a:xfrm>
            <a:off x="8899802" y="380769"/>
            <a:ext cx="2507107" cy="28113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1051BC-243B-1A50-DF06-45B6463684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790" r="-4" b="-4"/>
          <a:stretch/>
        </p:blipFill>
        <p:spPr>
          <a:xfrm>
            <a:off x="3544829" y="380769"/>
            <a:ext cx="2507982" cy="28113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DAC106-F255-A2CF-16FE-FDD87940DF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790" r="-4" b="-4"/>
          <a:stretch/>
        </p:blipFill>
        <p:spPr>
          <a:xfrm>
            <a:off x="6259368" y="380769"/>
            <a:ext cx="2507982" cy="28113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93E7EA-FEE1-E42E-483D-450DA1F3BD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540" r="-4" b="-4"/>
          <a:stretch/>
        </p:blipFill>
        <p:spPr>
          <a:xfrm>
            <a:off x="687088" y="380769"/>
            <a:ext cx="2515016" cy="281132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217A1-6442-251E-69BC-FF475922A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586915" cy="2437244"/>
          </a:xfrm>
        </p:spPr>
        <p:txBody>
          <a:bodyPr anchor="ctr">
            <a:normAutofit/>
          </a:bodyPr>
          <a:lstStyle/>
          <a:p>
            <a:r>
              <a:rPr kumimoji="1" lang="en-US" altLang="ko-Kore-KR" sz="2000" dirty="0"/>
              <a:t>Ideal rotation axis</a:t>
            </a:r>
            <a:r>
              <a:rPr kumimoji="1" lang="ko-Kore-KR" altLang="en-US" sz="2000" dirty="0"/>
              <a:t>와 가장 가까운 축을</a:t>
            </a:r>
            <a:r>
              <a:rPr kumimoji="1" lang="en-US" altLang="ko-Kore-KR" sz="2000" dirty="0"/>
              <a:t> </a:t>
            </a:r>
            <a:r>
              <a:rPr kumimoji="1" lang="ko-Kore-KR" altLang="en-US" sz="2000" dirty="0"/>
              <a:t>갖는 </a:t>
            </a:r>
            <a:r>
              <a:rPr kumimoji="1" lang="en-US" altLang="ko-Kore-KR" sz="2000" dirty="0"/>
              <a:t>pulse</a:t>
            </a:r>
            <a:r>
              <a:rPr kumimoji="1" lang="ko-Kore-KR" altLang="en-US" sz="2000" dirty="0"/>
              <a:t>를 선택한다</a:t>
            </a:r>
            <a:r>
              <a:rPr kumimoji="1" lang="en-US" altLang="ko-Kore-KR" sz="2000" dirty="0"/>
              <a:t>.</a:t>
            </a:r>
          </a:p>
          <a:p>
            <a:r>
              <a:rPr kumimoji="1" lang="ko-Kore-KR" altLang="en-US" sz="2000" dirty="0"/>
              <a:t>가장 가까운 축은 파란색 축과 </a:t>
            </a:r>
            <a:r>
              <a:rPr kumimoji="1" lang="en-US" altLang="ko-Kore-KR" sz="2000" dirty="0"/>
              <a:t>rotation</a:t>
            </a:r>
            <a:r>
              <a:rPr kumimoji="1" lang="ko-Kore-KR" altLang="en-US" sz="2000" dirty="0"/>
              <a:t>축 사이의 내적값을 통해 판단한다</a:t>
            </a:r>
            <a:r>
              <a:rPr kumimoji="1" lang="en-US" altLang="ko-Kore-KR" sz="2000" dirty="0"/>
              <a:t>. </a:t>
            </a:r>
            <a:r>
              <a:rPr kumimoji="1" lang="ko-Kore-KR" altLang="en-US" sz="2000" dirty="0"/>
              <a:t>내적값이 큰 축을선택</a:t>
            </a:r>
            <a:r>
              <a:rPr kumimoji="1" lang="en-US" altLang="ko-Kore-KR" sz="2000" dirty="0"/>
              <a:t>.</a:t>
            </a:r>
          </a:p>
          <a:p>
            <a:r>
              <a:rPr kumimoji="1" lang="ko-Kore-KR" altLang="en-US" sz="2000" dirty="0"/>
              <a:t>현재 상태에서는 </a:t>
            </a:r>
            <a:r>
              <a:rPr kumimoji="1" lang="en-US" altLang="ko-Kore-KR" sz="2000" dirty="0"/>
              <a:t>+x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rotation pulse </a:t>
            </a:r>
            <a:r>
              <a:rPr kumimoji="1" lang="ko-KR" altLang="en-US" sz="2000" dirty="0"/>
              <a:t>선택</a:t>
            </a:r>
            <a:endParaRPr kumimoji="1" lang="ko-Kore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F73CF0-12AD-8595-7258-56254003F619}"/>
              </a:ext>
            </a:extLst>
          </p:cNvPr>
          <p:cNvSpPr txBox="1"/>
          <p:nvPr/>
        </p:nvSpPr>
        <p:spPr>
          <a:xfrm>
            <a:off x="11406909" y="55418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38D8F2-29F0-F9BF-13A2-8D790AC8D9C3}"/>
              </a:ext>
            </a:extLst>
          </p:cNvPr>
          <p:cNvSpPr txBox="1"/>
          <p:nvPr/>
        </p:nvSpPr>
        <p:spPr>
          <a:xfrm>
            <a:off x="9491793" y="3032833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-y rotation</a:t>
            </a:r>
            <a:endParaRPr kumimoji="1" lang="ko-Kore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79E30-6659-7E8A-8E72-B1B7D5A4159A}"/>
              </a:ext>
            </a:extLst>
          </p:cNvPr>
          <p:cNvSpPr txBox="1"/>
          <p:nvPr/>
        </p:nvSpPr>
        <p:spPr>
          <a:xfrm>
            <a:off x="4006278" y="3067665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-x rotation</a:t>
            </a:r>
            <a:endParaRPr kumimoji="1" lang="ko-Kore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05AAF-CC40-7574-17E0-EEAD7105C8B4}"/>
              </a:ext>
            </a:extLst>
          </p:cNvPr>
          <p:cNvSpPr txBox="1"/>
          <p:nvPr/>
        </p:nvSpPr>
        <p:spPr>
          <a:xfrm>
            <a:off x="6718346" y="3059350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+y rotation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044BC-2BB9-56C5-3864-BBCC82C38E8D}"/>
              </a:ext>
            </a:extLst>
          </p:cNvPr>
          <p:cNvSpPr txBox="1"/>
          <p:nvPr/>
        </p:nvSpPr>
        <p:spPr>
          <a:xfrm>
            <a:off x="1258052" y="3067665"/>
            <a:ext cx="1256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/>
              <a:t>+x rotation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77151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A611F1-E4FE-5834-E800-CE332055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ko-Kore-KR" altLang="en-US" sz="4800" dirty="0"/>
              <a:t>최적화 방법</a:t>
            </a:r>
          </a:p>
        </p:txBody>
      </p:sp>
      <p:sp>
        <p:nvSpPr>
          <p:cNvPr id="5" name="AutoShape 4" descr="{\displaystyle F(\rho ,\sigma )=\left(\operatorname {tr} {\sqrt {{\sqrt {\rho }}\sigma {\sqrt {\rho }}}}\right)^{2}}">
            <a:extLst>
              <a:ext uri="{FF2B5EF4-FFF2-40B4-BE49-F238E27FC236}">
                <a16:creationId xmlns:a16="http://schemas.microsoft.com/office/drawing/2014/main" id="{C1147FF1-3DA9-CBF0-D984-75B74E8A736A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2560322"/>
            <a:ext cx="9941319" cy="136697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ko-Kore-KR" altLang="en-US" sz="2400" dirty="0"/>
              <a:t>첫번째 </a:t>
            </a:r>
            <a:r>
              <a:rPr kumimoji="1" lang="en-US" altLang="ko-Kore-KR" sz="2400" dirty="0"/>
              <a:t>step</a:t>
            </a:r>
            <a:r>
              <a:rPr kumimoji="1" lang="ko-Kore-KR" altLang="en-US" sz="2400" dirty="0"/>
              <a:t>에서의 </a:t>
            </a:r>
            <a:r>
              <a:rPr kumimoji="1" lang="en-US" altLang="ko-Kore-KR" sz="2400" dirty="0"/>
              <a:t>pulse</a:t>
            </a:r>
            <a:r>
              <a:rPr kumimoji="1" lang="ko-Kore-KR" altLang="en-US" sz="2400" dirty="0"/>
              <a:t>를 선택한 후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두번째 </a:t>
            </a:r>
            <a:r>
              <a:rPr kumimoji="1" lang="en-US" altLang="ko-Kore-KR" sz="2400" dirty="0"/>
              <a:t>step</a:t>
            </a:r>
            <a:r>
              <a:rPr kumimoji="1" lang="ko-Kore-KR" altLang="en-US" sz="2400" dirty="0"/>
              <a:t>부터는 이전</a:t>
            </a:r>
            <a:r>
              <a:rPr kumimoji="1" lang="en-US" altLang="ko-Kore-KR" sz="2400" dirty="0"/>
              <a:t>step</a:t>
            </a:r>
            <a:r>
              <a:rPr kumimoji="1" lang="ko-Kore-KR" altLang="en-US" sz="2400" dirty="0"/>
              <a:t>내적값과 현재 </a:t>
            </a:r>
            <a:r>
              <a:rPr kumimoji="1" lang="en-US" altLang="ko-Kore-KR" sz="2400" dirty="0"/>
              <a:t>step </a:t>
            </a:r>
            <a:r>
              <a:rPr kumimoji="1" lang="ko-Kore-KR" altLang="en-US" sz="2400" dirty="0"/>
              <a:t>내적값의 변화량을 비교한다</a:t>
            </a:r>
            <a:r>
              <a:rPr kumimoji="1" lang="en-US" altLang="ko-Kore-KR" sz="2400" dirty="0"/>
              <a:t>.</a:t>
            </a:r>
          </a:p>
          <a:p>
            <a:r>
              <a:rPr kumimoji="1" lang="ko-Kore-KR" altLang="en-US" sz="2400" dirty="0"/>
              <a:t>변화량이 큰 축을 선택하게 된다</a:t>
            </a:r>
            <a:r>
              <a:rPr kumimoji="1" lang="en-US" altLang="ko-Kore-KR" sz="2400" dirty="0"/>
              <a:t>.</a:t>
            </a:r>
            <a:endParaRPr kumimoji="1" lang="ko-Kore-KR" altLang="en-US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5AA1D62-71B8-6CA5-9AAA-F5562E677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39" y="3927301"/>
            <a:ext cx="77724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2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83B015-8F03-1F47-77BF-A0BD00B0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ko-Kore-KR" altLang="en-US" sz="4800"/>
              <a:t>최적화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0645E1-2BC1-5A53-8582-2532090A7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72904"/>
            <a:ext cx="9941319" cy="711197"/>
          </a:xfrm>
        </p:spPr>
        <p:txBody>
          <a:bodyPr anchor="ctr">
            <a:normAutofit lnSpcReduction="10000"/>
          </a:bodyPr>
          <a:lstStyle/>
          <a:p>
            <a:r>
              <a:rPr kumimoji="1" lang="ko-Kore-KR" altLang="en-US" sz="2400" dirty="0"/>
              <a:t>만약 변화량이 같은 축이 존재한다면</a:t>
            </a:r>
            <a:r>
              <a:rPr kumimoji="1" lang="en-US" altLang="ko-Kore-KR" sz="2400" dirty="0"/>
              <a:t>, </a:t>
            </a:r>
            <a:r>
              <a:rPr kumimoji="1" lang="ko-Kore-KR" altLang="en-US" sz="2400" dirty="0"/>
              <a:t>그 축들 중에서 현재 </a:t>
            </a:r>
            <a:r>
              <a:rPr kumimoji="1" lang="en-US" altLang="ko-Kore-KR" sz="2400" dirty="0"/>
              <a:t>step</a:t>
            </a:r>
            <a:r>
              <a:rPr kumimoji="1" lang="ko-Kore-KR" altLang="en-US" sz="2400" dirty="0"/>
              <a:t>의 내적값이 더 큰 축을 선택하게 된다</a:t>
            </a:r>
            <a:r>
              <a:rPr kumimoji="1" lang="en-US" altLang="ko-Kore-KR" sz="2400" dirty="0"/>
              <a:t>.</a:t>
            </a:r>
            <a:endParaRPr kumimoji="1" lang="ko-Kore-KR" alt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D943EAE-FCBC-E76E-B222-780D5198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82" y="3705337"/>
            <a:ext cx="7772400" cy="194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76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8F88C5-4BE7-6FB8-3AC4-BE0CA53B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ko-Kore-KR" altLang="en-US" sz="4800"/>
              <a:t>최적화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26F6BD-1EBC-4728-7F01-8D64385DD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88032"/>
            <a:ext cx="9941319" cy="1209961"/>
          </a:xfrm>
        </p:spPr>
        <p:txBody>
          <a:bodyPr anchor="ctr">
            <a:normAutofit/>
          </a:bodyPr>
          <a:lstStyle/>
          <a:p>
            <a:r>
              <a:rPr kumimoji="1" lang="ko-Kore-KR" altLang="en-US" sz="2400" dirty="0"/>
              <a:t>이러한 </a:t>
            </a:r>
            <a:r>
              <a:rPr kumimoji="1" lang="en-US" altLang="ko-Kore-KR" sz="2400" dirty="0"/>
              <a:t>c</a:t>
            </a:r>
            <a:r>
              <a:rPr kumimoji="1" lang="en-US" altLang="ko-KR" sz="2400" dirty="0"/>
              <a:t>onstraints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통해 각 시구간</a:t>
            </a:r>
            <a:r>
              <a:rPr kumimoji="1" lang="en-US" altLang="ko-KR" sz="2400" dirty="0"/>
              <a:t>(dt)</a:t>
            </a:r>
            <a:r>
              <a:rPr kumimoji="1" lang="ko-KR" altLang="en-US" sz="2400" dirty="0"/>
              <a:t>에서의 적절한 </a:t>
            </a:r>
            <a:r>
              <a:rPr kumimoji="1" lang="en-US" altLang="ko-KR" sz="2400" dirty="0"/>
              <a:t>pulse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찾게된다</a:t>
            </a:r>
            <a:r>
              <a:rPr kumimoji="1" lang="en-US" altLang="ko-KR" sz="2400" dirty="0"/>
              <a:t>.</a:t>
            </a:r>
          </a:p>
          <a:p>
            <a:r>
              <a:rPr kumimoji="1" lang="ko-Kore-KR" altLang="en-US" sz="2400" dirty="0"/>
              <a:t>시구간</a:t>
            </a:r>
            <a:r>
              <a:rPr kumimoji="1" lang="en-US" altLang="ko-Kore-KR" sz="2400" dirty="0"/>
              <a:t>dt</a:t>
            </a:r>
            <a:r>
              <a:rPr kumimoji="1" lang="ko-Kore-KR" altLang="en-US" sz="2400" dirty="0"/>
              <a:t>는</a:t>
            </a:r>
            <a:r>
              <a:rPr kumimoji="1" lang="en-US" altLang="ko-Kore-KR" sz="2400" dirty="0"/>
              <a:t> Global Optimizer</a:t>
            </a:r>
            <a:r>
              <a:rPr kumimoji="1" lang="ko-Kore-KR" altLang="en-US" sz="2400" dirty="0"/>
              <a:t>인 </a:t>
            </a:r>
            <a:r>
              <a:rPr kumimoji="1" lang="en-US" altLang="ko-Kore-KR" sz="2400" dirty="0"/>
              <a:t>SHGO Optimizer</a:t>
            </a:r>
            <a:r>
              <a:rPr kumimoji="1" lang="ko-Kore-KR" altLang="en-US" sz="2400" dirty="0"/>
              <a:t>를 사용하여 탐색한다</a:t>
            </a:r>
            <a:r>
              <a:rPr kumimoji="1" lang="en-US" altLang="ko-Kore-KR" sz="2400" dirty="0"/>
              <a:t>.</a:t>
            </a:r>
            <a:endParaRPr kumimoji="1" lang="ko-Kore-KR" alt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A539468-ECF7-965E-AE46-BE7D4D83E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4" y="4198800"/>
            <a:ext cx="11514130" cy="8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453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5D81E7-0139-9F48-8C3D-53EA9D7C8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ko-Kore-KR" altLang="en-US" sz="4000" dirty="0"/>
              <a:t>시뮬레이션 결과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26CE86E9-5BD6-22C2-6D2B-3B42A89D7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</a:t>
                </a:r>
                <a:r>
                  <a:rPr lang="en-US" altLang="ko-KR" sz="2000" dirty="0"/>
                  <a:t>02</a:t>
                </a:r>
                <a:r>
                  <a:rPr lang="en-US" altLang="ko-Kore-KR" sz="2000" dirty="0"/>
                  <a:t>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0.02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Number of step = </a:t>
                </a:r>
                <a:r>
                  <a:rPr lang="en-US" altLang="ko-KR" sz="2000" dirty="0"/>
                  <a:t>90</a:t>
                </a:r>
              </a:p>
              <a:p>
                <a:r>
                  <a:rPr lang="en-US" altLang="ko-Kore-KR" sz="2000" dirty="0"/>
                  <a:t>dt = </a:t>
                </a:r>
                <a:r>
                  <a:rPr lang="en-US" altLang="ko-KR" sz="2000" dirty="0"/>
                  <a:t>1.88</a:t>
                </a:r>
                <a:r>
                  <a:rPr lang="en-US" altLang="ko-Kore-KR" sz="2000" dirty="0"/>
                  <a:t> 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Total time = </a:t>
                </a:r>
                <a:r>
                  <a:rPr lang="en-US" altLang="ko-KR" sz="2000" dirty="0"/>
                  <a:t>169.2</a:t>
                </a:r>
                <a:r>
                  <a:rPr lang="el-GR" altLang="ko-Kore-KR" sz="2000" dirty="0"/>
                  <a:t> 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Fidelity = 0.9990</a:t>
                </a:r>
                <a:r>
                  <a:rPr lang="en-US" altLang="ko-KR" sz="2000" dirty="0"/>
                  <a:t>0</a:t>
                </a:r>
                <a:endParaRPr lang="en-US" altLang="ko-Kore-KR" sz="2000" dirty="0"/>
              </a:p>
            </p:txBody>
          </p:sp>
        </mc:Choice>
        <mc:Fallback xmlns="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26CE86E9-5BD6-22C2-6D2B-3B42A89D7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  <a:blipFill>
                <a:blip r:embed="rId3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BC47D1-A622-7ED7-2CB8-25CA60478A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15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5D81E7-0139-9F48-8C3D-53EA9D7C8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ko-Kore-KR" altLang="en-US" sz="4000" dirty="0"/>
              <a:t>시뮬레이션 결과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26CE86E9-5BD6-22C2-6D2B-3B42A89D7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</a:t>
                </a:r>
                <a:r>
                  <a:rPr lang="en-US" altLang="ko-KR" sz="2000" dirty="0"/>
                  <a:t>02</a:t>
                </a:r>
                <a:r>
                  <a:rPr lang="en-US" altLang="ko-Kore-KR" sz="2000" dirty="0"/>
                  <a:t>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0.02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Number of step =</a:t>
                </a:r>
                <a:r>
                  <a:rPr lang="en-US" altLang="ko-KR" sz="2000" dirty="0"/>
                  <a:t>73</a:t>
                </a:r>
                <a:endParaRPr lang="en-US" altLang="ko-Kore-KR" sz="2000" dirty="0"/>
              </a:p>
              <a:p>
                <a:r>
                  <a:rPr lang="en-US" altLang="ko-Kore-KR" sz="2000" dirty="0"/>
                  <a:t>dt = </a:t>
                </a:r>
                <a:r>
                  <a:rPr lang="en-US" altLang="ko-KR" sz="2000" dirty="0"/>
                  <a:t>2.31</a:t>
                </a:r>
                <a:r>
                  <a:rPr lang="en-US" altLang="ko-Kore-KR" sz="2000" dirty="0"/>
                  <a:t> 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Total time = </a:t>
                </a:r>
                <a:r>
                  <a:rPr lang="en-US" altLang="ko-KR" sz="2000" dirty="0"/>
                  <a:t>168.63</a:t>
                </a:r>
                <a:r>
                  <a:rPr lang="el-GR" altLang="ko-Kore-KR" sz="2000" dirty="0"/>
                  <a:t> 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Fidelity = 0.99</a:t>
                </a:r>
                <a:r>
                  <a:rPr lang="en-US" altLang="ko-KR" sz="2000" dirty="0"/>
                  <a:t>852</a:t>
                </a:r>
                <a:endParaRPr lang="en-US" altLang="ko-Kore-KR" sz="2000" dirty="0"/>
              </a:p>
            </p:txBody>
          </p:sp>
        </mc:Choice>
        <mc:Fallback xmlns="">
          <p:sp>
            <p:nvSpPr>
              <p:cNvPr id="21" name="Content Placeholder 20">
                <a:extLst>
                  <a:ext uri="{FF2B5EF4-FFF2-40B4-BE49-F238E27FC236}">
                    <a16:creationId xmlns:a16="http://schemas.microsoft.com/office/drawing/2014/main" id="{26CE86E9-5BD6-22C2-6D2B-3B42A89D7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  <a:blipFill>
                <a:blip r:embed="rId3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C93377-476A-60AC-295F-52B117F81D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3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F026E-EAEB-1F11-56CB-1093CDE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ko-Kore-KR" altLang="en-US" sz="4000"/>
              <a:t>시뮬레이션 결과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030001-3727-BFB7-C72E-23FAAEDE9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431014"/>
                <a:ext cx="4559425" cy="3979585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0.15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0.02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Number of step = </a:t>
                </a:r>
                <a:r>
                  <a:rPr lang="en-US" altLang="ko-KR" sz="2000" dirty="0"/>
                  <a:t>42</a:t>
                </a:r>
                <a:endParaRPr lang="en-US" altLang="ko-Kore-KR" sz="2000" dirty="0"/>
              </a:p>
              <a:p>
                <a:r>
                  <a:rPr lang="en-US" altLang="ko-Kore-KR" sz="2000" dirty="0"/>
                  <a:t>dt = </a:t>
                </a:r>
                <a:r>
                  <a:rPr lang="en-US" altLang="ko-KR" sz="2000" dirty="0"/>
                  <a:t>2.63</a:t>
                </a:r>
                <a:r>
                  <a:rPr lang="en-US" altLang="ko-Kore-KR" sz="2000" dirty="0"/>
                  <a:t> 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Total time = </a:t>
                </a:r>
                <a:r>
                  <a:rPr lang="en-US" altLang="ko-KR" sz="2000" dirty="0"/>
                  <a:t>110.46</a:t>
                </a:r>
                <a:r>
                  <a:rPr lang="el-GR" altLang="ko-Kore-KR" sz="2000" dirty="0"/>
                  <a:t> 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Fidelity = 0.999</a:t>
                </a:r>
                <a:r>
                  <a:rPr lang="en-US" altLang="ko-KR" sz="2000" dirty="0"/>
                  <a:t>63</a:t>
                </a:r>
                <a:endParaRPr lang="en-US" altLang="ko-Kore-KR" sz="2000" dirty="0"/>
              </a:p>
              <a:p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030001-3727-BFB7-C72E-23FAAEDE9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431014"/>
                <a:ext cx="4559425" cy="3979585"/>
              </a:xfrm>
              <a:blipFill>
                <a:blip r:embed="rId3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 descr="공, 원, 구체, 라인이(가) 표시된 사진&#10;&#10;자동 생성된 설명">
            <a:extLst>
              <a:ext uri="{FF2B5EF4-FFF2-40B4-BE49-F238E27FC236}">
                <a16:creationId xmlns:a16="http://schemas.microsoft.com/office/drawing/2014/main" id="{A7928EA0-5CF7-2DC2-F7D7-14D7172020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42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A4F026E-EAEB-1F11-56CB-1093CDE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ko-Kore-KR" altLang="en-US" sz="4000" dirty="0"/>
              <a:t>시뮬레이션 결과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030001-3727-BFB7-C72E-23FAAEDE9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0.15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ore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ore-KR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ore-KR" sz="2000" dirty="0"/>
                  <a:t> = 0.02 rad/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Number of step = </a:t>
                </a:r>
                <a:r>
                  <a:rPr lang="en-US" altLang="ko-KR" sz="2000" dirty="0"/>
                  <a:t>42</a:t>
                </a:r>
                <a:endParaRPr lang="en-US" altLang="ko-Kore-KR" sz="2000" dirty="0"/>
              </a:p>
              <a:p>
                <a:r>
                  <a:rPr lang="en-US" altLang="ko-Kore-KR" sz="2000" dirty="0"/>
                  <a:t>dt = </a:t>
                </a:r>
                <a:r>
                  <a:rPr lang="en-US" altLang="ko-KR" sz="2000" dirty="0"/>
                  <a:t>2.63</a:t>
                </a:r>
                <a:r>
                  <a:rPr lang="en-US" altLang="ko-Kore-KR" sz="2000" dirty="0"/>
                  <a:t> </a:t>
                </a:r>
                <a:r>
                  <a:rPr lang="el-GR" altLang="ko-Kore-KR" sz="2000" dirty="0"/>
                  <a:t>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Total time = </a:t>
                </a:r>
                <a:r>
                  <a:rPr lang="en-US" altLang="ko-KR" sz="2000" dirty="0"/>
                  <a:t>110.46</a:t>
                </a:r>
                <a:r>
                  <a:rPr lang="el-GR" altLang="ko-Kore-KR" sz="2000" dirty="0"/>
                  <a:t> μ</a:t>
                </a:r>
                <a:r>
                  <a:rPr lang="en-US" altLang="ko-Kore-KR" sz="2000" dirty="0"/>
                  <a:t>s</a:t>
                </a:r>
              </a:p>
              <a:p>
                <a:r>
                  <a:rPr lang="en-US" altLang="ko-Kore-KR" sz="2000" dirty="0"/>
                  <a:t>Fidelity = 0.99</a:t>
                </a:r>
                <a:r>
                  <a:rPr lang="en-US" altLang="ko-KR" sz="2000" dirty="0"/>
                  <a:t>868</a:t>
                </a:r>
                <a:endParaRPr lang="en-US" altLang="ko-Kore-KR" sz="2000" dirty="0"/>
              </a:p>
              <a:p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030001-3727-BFB7-C72E-23FAAEDE9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  <a:blipFill>
                <a:blip r:embed="rId3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F1DE46-9037-7D53-B9D8-E58AF16DF2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79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8CF54F-B818-1470-D799-69FABFE7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ko-Kore-KR" altLang="en-US" sz="4000"/>
              <a:t>개선해야할</a:t>
            </a:r>
            <a:r>
              <a:rPr kumimoji="1" lang="ko-KR" altLang="en-US" sz="4000"/>
              <a:t> 점</a:t>
            </a:r>
            <a:endParaRPr kumimoji="1" lang="ko-Kore-KR" altLang="en-US" sz="40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5F7A3-CD7F-5EB0-8449-B35D9997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kumimoji="1" lang="ko-Kore-KR" altLang="en-US" sz="2000" dirty="0"/>
              <a:t>원하는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target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state</a:t>
            </a:r>
            <a:r>
              <a:rPr kumimoji="1" lang="ko-KR" altLang="en-US" sz="2000" dirty="0"/>
              <a:t>로 가지 못하고 시간을 소모하는 경우가 있음</a:t>
            </a:r>
            <a:endParaRPr kumimoji="1" lang="en-US" altLang="ko-KR" sz="2000" dirty="0"/>
          </a:p>
          <a:p>
            <a:pPr>
              <a:buFont typeface="Wingdings" pitchFamily="2" charset="2"/>
              <a:buChar char="à"/>
            </a:pPr>
            <a:r>
              <a:rPr kumimoji="1" lang="ko-KR" altLang="en-US" sz="2000" dirty="0">
                <a:sym typeface="Wingdings" pitchFamily="2" charset="2"/>
              </a:rPr>
              <a:t>현재 사용하고 있는 </a:t>
            </a:r>
            <a:r>
              <a:rPr kumimoji="1" lang="en-US" altLang="ko-KR" sz="2000" dirty="0">
                <a:sym typeface="Wingdings" pitchFamily="2" charset="2"/>
              </a:rPr>
              <a:t>constraints</a:t>
            </a:r>
            <a:r>
              <a:rPr kumimoji="1" lang="ko-KR" altLang="en-US" sz="2000" dirty="0">
                <a:sym typeface="Wingdings" pitchFamily="2" charset="2"/>
              </a:rPr>
              <a:t>보다 더 엄격하게 하는 것은 문제를 </a:t>
            </a:r>
            <a:r>
              <a:rPr kumimoji="1" lang="ko-KR" altLang="en-US" sz="2000" dirty="0" err="1">
                <a:sym typeface="Wingdings" pitchFamily="2" charset="2"/>
              </a:rPr>
              <a:t>푸는데에</a:t>
            </a:r>
            <a:r>
              <a:rPr kumimoji="1" lang="ko-KR" altLang="en-US" sz="2000" dirty="0">
                <a:sym typeface="Wingdings" pitchFamily="2" charset="2"/>
              </a:rPr>
              <a:t> 유연성을 주기 힘들다</a:t>
            </a:r>
            <a:r>
              <a:rPr kumimoji="1" lang="en-US" altLang="ko-KR" sz="2000" dirty="0">
                <a:sym typeface="Wingdings" pitchFamily="2" charset="2"/>
              </a:rPr>
              <a:t>.</a:t>
            </a:r>
          </a:p>
          <a:p>
            <a:pPr>
              <a:buFont typeface="Wingdings" pitchFamily="2" charset="2"/>
              <a:buChar char="à"/>
            </a:pPr>
            <a:r>
              <a:rPr kumimoji="1" lang="en-US" altLang="ko-KR" sz="2000" dirty="0">
                <a:sym typeface="Wingdings" pitchFamily="2" charset="2"/>
              </a:rPr>
              <a:t> </a:t>
            </a:r>
            <a:r>
              <a:rPr kumimoji="1" lang="ko-KR" altLang="en-US" sz="2000" dirty="0"/>
              <a:t>최적화 알고리즘에서 현재 </a:t>
            </a:r>
            <a:r>
              <a:rPr kumimoji="1" lang="en-US" altLang="ko-KR" sz="2000" dirty="0"/>
              <a:t>dt</a:t>
            </a:r>
            <a:r>
              <a:rPr kumimoji="1" lang="ko-KR" altLang="en-US" sz="2000" dirty="0"/>
              <a:t>만을 최적화 하고 있는데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choice</a:t>
            </a:r>
            <a:r>
              <a:rPr kumimoji="1" lang="ko-KR" altLang="en-US" sz="2000" dirty="0"/>
              <a:t>도 최적화 변수로 넣어서 유연하게 문제를 풀 수 있는 방안 찾기</a:t>
            </a:r>
            <a:endParaRPr kumimoji="1" lang="en-US" altLang="ko-KR" sz="2000" dirty="0"/>
          </a:p>
          <a:p>
            <a:pPr marL="514350" indent="-514350">
              <a:buAutoNum type="arabicPeriod"/>
            </a:pPr>
            <a:endParaRPr kumimoji="1" lang="en-US" altLang="ko-KR" sz="2000" dirty="0"/>
          </a:p>
          <a:p>
            <a:endParaRPr kumimoji="1" lang="en-US" altLang="ko-KR" sz="2000" dirty="0"/>
          </a:p>
          <a:p>
            <a:endParaRPr kumimoji="1" lang="ko-Kore-KR" altLang="en-US" sz="2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40FA88-882F-71B9-202B-9F0901DBF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13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7AC8A-72F2-FB83-A240-769A368E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599"/>
            <a:ext cx="10515600" cy="1325563"/>
          </a:xfrm>
        </p:spPr>
        <p:txBody>
          <a:bodyPr/>
          <a:lstStyle/>
          <a:p>
            <a:r>
              <a:rPr kumimoji="1" lang="ko-Kore-KR" altLang="en-US" dirty="0"/>
              <a:t>개선해야할</a:t>
            </a:r>
            <a:r>
              <a:rPr kumimoji="1" lang="ko-KR" altLang="en-US" dirty="0"/>
              <a:t> 점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8A3F0-A0F0-8A59-AA18-EAB4C8EE6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2.</a:t>
            </a:r>
            <a:r>
              <a:rPr kumimoji="1" lang="ko-KR" altLang="en-US" dirty="0"/>
              <a:t> 현재 </a:t>
            </a:r>
            <a:r>
              <a:rPr kumimoji="1" lang="en-US" altLang="ko-KR" dirty="0"/>
              <a:t>cost function</a:t>
            </a:r>
            <a:r>
              <a:rPr kumimoji="1" lang="ko-KR" altLang="en-US" dirty="0"/>
              <a:t>은 오직 </a:t>
            </a:r>
            <a:r>
              <a:rPr kumimoji="1" lang="en-US" altLang="ko-KR" dirty="0"/>
              <a:t>state fidelity</a:t>
            </a:r>
            <a:r>
              <a:rPr kumimoji="1" lang="ko-KR" altLang="en-US" dirty="0"/>
              <a:t>만 고려하고 있음</a:t>
            </a:r>
            <a:r>
              <a:rPr kumimoji="1" lang="en-US" altLang="ko-KR" dirty="0"/>
              <a:t> </a:t>
            </a:r>
          </a:p>
          <a:p>
            <a:pPr marL="0" indent="0">
              <a:buNone/>
            </a:pPr>
            <a:r>
              <a:rPr kumimoji="1" lang="en-US" altLang="ko-KR" sz="2800" dirty="0">
                <a:sym typeface="Wingdings" pitchFamily="2" charset="2"/>
              </a:rPr>
              <a:t>	cost = 1 –</a:t>
            </a:r>
          </a:p>
          <a:p>
            <a:pPr marL="0" indent="0">
              <a:buNone/>
            </a:pPr>
            <a:endParaRPr kumimoji="1" lang="en-US" altLang="ko-KR" dirty="0"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r>
              <a:rPr kumimoji="1" lang="en-US" altLang="ko-KR" dirty="0">
                <a:sym typeface="Wingdings" pitchFamily="2" charset="2"/>
              </a:rPr>
              <a:t> </a:t>
            </a:r>
            <a:r>
              <a:rPr kumimoji="1" lang="ko-KR" altLang="en-US" dirty="0">
                <a:sym typeface="Wingdings" pitchFamily="2" charset="2"/>
              </a:rPr>
              <a:t>시간에 따른 </a:t>
            </a:r>
            <a:r>
              <a:rPr kumimoji="1" lang="en-US" altLang="ko-KR" dirty="0">
                <a:sym typeface="Wingdings" pitchFamily="2" charset="2"/>
              </a:rPr>
              <a:t>penalty </a:t>
            </a:r>
            <a:r>
              <a:rPr kumimoji="1" lang="ko-KR" altLang="en-US" dirty="0">
                <a:sym typeface="Wingdings" pitchFamily="2" charset="2"/>
              </a:rPr>
              <a:t>부여</a:t>
            </a:r>
            <a:endParaRPr kumimoji="1" lang="en-US" altLang="ko-KR" dirty="0">
              <a:sym typeface="Wingdings" pitchFamily="2" charset="2"/>
            </a:endParaRPr>
          </a:p>
          <a:p>
            <a:pPr marL="0" indent="0">
              <a:buNone/>
            </a:pPr>
            <a:r>
              <a:rPr kumimoji="1" lang="en-US" altLang="ko-Kore-KR" dirty="0"/>
              <a:t>	cost = 1 </a:t>
            </a:r>
            <a:r>
              <a:rPr kumimoji="1" lang="en-US" altLang="ko-KR" sz="2800" dirty="0">
                <a:sym typeface="Wingdings" pitchFamily="2" charset="2"/>
              </a:rPr>
              <a:t>–             + </a:t>
            </a:r>
          </a:p>
          <a:p>
            <a:pPr>
              <a:buFont typeface="Wingdings" pitchFamily="2" charset="2"/>
              <a:buChar char="à"/>
            </a:pPr>
            <a:endParaRPr kumimoji="1" lang="en-US" altLang="ko-KR" sz="2800" dirty="0"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r>
              <a:rPr kumimoji="1" lang="en-US" altLang="ko-KR" sz="2800" dirty="0">
                <a:sym typeface="Wingdings" pitchFamily="2" charset="2"/>
              </a:rPr>
              <a:t> </a:t>
            </a:r>
            <a:r>
              <a:rPr kumimoji="1" lang="ko-KR" altLang="en-US" dirty="0">
                <a:sym typeface="Wingdings" pitchFamily="2" charset="2"/>
              </a:rPr>
              <a:t>시간에 대한 가중치 </a:t>
            </a:r>
            <a:r>
              <a:rPr lang="el-GR" altLang="ko-Kore-KR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κ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kumimoji="1" lang="ko-KR" altLang="en-US" dirty="0">
                <a:sym typeface="Wingdings" pitchFamily="2" charset="2"/>
              </a:rPr>
              <a:t>의 적절한 값을 찾아야한다</a:t>
            </a:r>
            <a:r>
              <a:rPr kumimoji="1" lang="en-US" altLang="ko-KR" dirty="0">
                <a:sym typeface="Wingdings" pitchFamily="2" charset="2"/>
              </a:rPr>
              <a:t>.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635214-DBC6-AC02-E476-10CF8D3218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05" r="71583" b="15851"/>
          <a:stretch/>
        </p:blipFill>
        <p:spPr>
          <a:xfrm>
            <a:off x="3292899" y="2299580"/>
            <a:ext cx="880749" cy="5522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A8E18F2-625F-E1E4-74BF-57E6DF6773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505" r="71583" b="15851"/>
          <a:stretch/>
        </p:blipFill>
        <p:spPr>
          <a:xfrm>
            <a:off x="3292898" y="3846637"/>
            <a:ext cx="880749" cy="5522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C69D61-8352-DA36-E115-C8C61725A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86"/>
          <a:stretch/>
        </p:blipFill>
        <p:spPr>
          <a:xfrm>
            <a:off x="4523873" y="3713695"/>
            <a:ext cx="1255275" cy="81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4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6314D6-09BD-5A58-837D-CA595478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kumimoji="1" lang="ko-Kore-KR" altLang="en-US" sz="4800" dirty="0"/>
              <a:t>향후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060F9-E77E-1279-B60D-6C1DDA0FA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kumimoji="1" lang="en-US" altLang="ko-KR" sz="2400" dirty="0"/>
              <a:t>1. </a:t>
            </a:r>
            <a:r>
              <a:rPr kumimoji="1" lang="en-US" altLang="ko-Kore-KR" sz="2400" dirty="0"/>
              <a:t>Time-optimal</a:t>
            </a:r>
            <a:r>
              <a:rPr kumimoji="1" lang="ko-Kore-KR" altLang="en-US" sz="2400" dirty="0"/>
              <a:t>한 데이터</a:t>
            </a:r>
            <a:r>
              <a:rPr kumimoji="1" lang="en-US" altLang="ko-Kore-KR" sz="2400" dirty="0"/>
              <a:t>(dt, pulse </a:t>
            </a:r>
            <a:r>
              <a:rPr kumimoji="1" lang="ko-Kore-KR" altLang="en-US" sz="2400" dirty="0"/>
              <a:t>조합</a:t>
            </a:r>
            <a:r>
              <a:rPr kumimoji="1" lang="en-US" altLang="ko-Kore-KR" sz="2400" dirty="0"/>
              <a:t>)</a:t>
            </a:r>
            <a:r>
              <a:rPr kumimoji="1" lang="ko-Kore-KR" altLang="en-US" sz="2400" dirty="0"/>
              <a:t>들을 뽑아서</a:t>
            </a:r>
            <a:r>
              <a:rPr kumimoji="1" lang="en-US" altLang="ko-Kore-KR" sz="2400" dirty="0"/>
              <a:t>, ML</a:t>
            </a:r>
            <a:r>
              <a:rPr kumimoji="1" lang="ko-Kore-KR" altLang="en-US" sz="2400" dirty="0"/>
              <a:t>로 학습시킨다</a:t>
            </a:r>
            <a:r>
              <a:rPr kumimoji="1" lang="en-US" altLang="ko-Kore-KR" sz="2400" dirty="0"/>
              <a:t>.</a:t>
            </a:r>
          </a:p>
          <a:p>
            <a:pPr marL="0" indent="0">
              <a:buNone/>
            </a:pPr>
            <a:r>
              <a:rPr kumimoji="1" lang="en-US" altLang="ko-KR" sz="2400" dirty="0"/>
              <a:t>2. </a:t>
            </a:r>
            <a:r>
              <a:rPr kumimoji="1" lang="en-US" altLang="ko-Kore-KR" sz="2400" dirty="0"/>
              <a:t>ML</a:t>
            </a:r>
            <a:r>
              <a:rPr kumimoji="1" lang="ko-Kore-KR" altLang="en-US" sz="2400" dirty="0"/>
              <a:t>을 통해</a:t>
            </a:r>
            <a:r>
              <a:rPr kumimoji="1" lang="en-US" altLang="ko-Kore-KR" sz="2400" dirty="0"/>
              <a:t> </a:t>
            </a:r>
            <a:r>
              <a:rPr kumimoji="1" lang="ko-Kore-KR" altLang="en-US" sz="2400" dirty="0"/>
              <a:t>원하는 </a:t>
            </a:r>
            <a:r>
              <a:rPr kumimoji="1" lang="en-US" altLang="ko-Kore-KR" sz="2400" dirty="0"/>
              <a:t>state</a:t>
            </a:r>
            <a:r>
              <a:rPr kumimoji="1" lang="ko-Kore-KR" altLang="en-US" sz="2400" dirty="0"/>
              <a:t>로 보내기 위한</a:t>
            </a:r>
            <a:r>
              <a:rPr kumimoji="1" lang="en-US" altLang="ko-Kore-KR" sz="2400" dirty="0"/>
              <a:t> dt</a:t>
            </a:r>
            <a:r>
              <a:rPr kumimoji="1" lang="ko-Kore-KR" altLang="en-US" sz="2400" dirty="0"/>
              <a:t>와 </a:t>
            </a:r>
            <a:r>
              <a:rPr kumimoji="1" lang="en-US" altLang="ko-Kore-KR" sz="2400" dirty="0"/>
              <a:t>pulse</a:t>
            </a:r>
            <a:r>
              <a:rPr kumimoji="1" lang="ko-Kore-KR" altLang="en-US" sz="2400" dirty="0"/>
              <a:t>조합을 빠르게 추정한다</a:t>
            </a:r>
            <a:r>
              <a:rPr kumimoji="1" lang="en-US" altLang="ko-Kore-KR" sz="2400" dirty="0"/>
              <a:t>.</a:t>
            </a:r>
          </a:p>
          <a:p>
            <a:pPr marL="0" indent="0">
              <a:buNone/>
            </a:pPr>
            <a:r>
              <a:rPr kumimoji="1" lang="en-US" altLang="ko-Kore-KR" sz="2400" dirty="0"/>
              <a:t>3</a:t>
            </a:r>
            <a:r>
              <a:rPr kumimoji="1" lang="en-US" altLang="ko-KR" sz="2400" dirty="0"/>
              <a:t>. </a:t>
            </a:r>
            <a:r>
              <a:rPr kumimoji="1" lang="ko-Kore-KR" altLang="en-US" sz="2400" dirty="0"/>
              <a:t>이를 실제 실헙 셋업에 적용시킨다</a:t>
            </a:r>
            <a:r>
              <a:rPr kumimoji="1" lang="en-US" altLang="ko-Kore-KR" sz="2400" dirty="0"/>
              <a:t>.</a:t>
            </a:r>
          </a:p>
          <a:p>
            <a:endParaRPr kumimoji="1" lang="en-US" altLang="ko-Kore-KR" sz="2400" dirty="0"/>
          </a:p>
          <a:p>
            <a:pPr marL="0" indent="0">
              <a:buNone/>
            </a:pPr>
            <a:r>
              <a:rPr kumimoji="1" lang="ko-Kore-KR" altLang="en-US" sz="2400" dirty="0"/>
              <a:t>최종 목표 </a:t>
            </a:r>
            <a:r>
              <a:rPr kumimoji="1" lang="en-US" altLang="ko-Kore-KR" sz="2400" dirty="0"/>
              <a:t>: </a:t>
            </a:r>
            <a:r>
              <a:rPr kumimoji="1" lang="ko-Kore-KR" altLang="en-US" sz="2400" dirty="0"/>
              <a:t>이러한 과정을 </a:t>
            </a:r>
            <a:r>
              <a:rPr kumimoji="1" lang="en-US" altLang="ko-Kore-KR" sz="2400" dirty="0"/>
              <a:t>13Carbon Nuclear Spin</a:t>
            </a:r>
            <a:r>
              <a:rPr kumimoji="1" lang="ko-Kore-KR" altLang="en-US" sz="2400" dirty="0"/>
              <a:t>에도 적용한다</a:t>
            </a:r>
            <a:r>
              <a:rPr kumimoji="1" lang="en-US" altLang="ko-Kore-KR" sz="2400" dirty="0"/>
              <a:t>.</a:t>
            </a:r>
            <a:endParaRPr kumimoji="1" lang="ko-Kore-KR" alt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711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0F8281-F1D2-B777-9B1D-C44B41EF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en-US" sz="7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감사합니다</a:t>
            </a:r>
            <a:endParaRPr kumimoji="1" lang="en-US" altLang="en-US" sz="7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26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2103</TotalTime>
  <Words>1762</Words>
  <Application>Microsoft Macintosh PowerPoint</Application>
  <PresentationFormat>와이드스크린</PresentationFormat>
  <Paragraphs>262</Paragraphs>
  <Slides>24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Wingdings</vt:lpstr>
      <vt:lpstr>Office 테마</vt:lpstr>
      <vt:lpstr>Time-Optimal  NV Spin Control</vt:lpstr>
      <vt:lpstr>목표</vt:lpstr>
      <vt:lpstr>Spin control 방법론적 개발 (Single NV spin)</vt:lpstr>
      <vt:lpstr>Spin control 방법론적 개발 (Single NV spin)</vt:lpstr>
      <vt:lpstr>PowerPoint 프레젠테이션</vt:lpstr>
      <vt:lpstr>Spin control 방법론적 개발 (Single NV spin)</vt:lpstr>
      <vt:lpstr>Detunning </vt:lpstr>
      <vt:lpstr>Detunning term을 넣어서 계산하는 이유</vt:lpstr>
      <vt:lpstr>Hamiltonian에 의한 회전축</vt:lpstr>
      <vt:lpstr>Hamiltonian에 의한 회전축</vt:lpstr>
      <vt:lpstr>최적화 방법</vt:lpstr>
      <vt:lpstr>최적화 방법</vt:lpstr>
      <vt:lpstr>최적화 방법</vt:lpstr>
      <vt:lpstr>최적화 방법</vt:lpstr>
      <vt:lpstr>최적화 방법</vt:lpstr>
      <vt:lpstr>최적화 방법</vt:lpstr>
      <vt:lpstr>시뮬레이션 결과</vt:lpstr>
      <vt:lpstr>시뮬레이션 결과</vt:lpstr>
      <vt:lpstr>시뮬레이션 결과</vt:lpstr>
      <vt:lpstr>시뮬레이션 결과</vt:lpstr>
      <vt:lpstr>개선해야할 점</vt:lpstr>
      <vt:lpstr>개선해야할 점</vt:lpstr>
      <vt:lpstr>향후 목표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Time-Optimal  NV Spin Control</dc:title>
  <dc:creator>하규원</dc:creator>
  <cp:lastModifiedBy>하규원</cp:lastModifiedBy>
  <cp:revision>27</cp:revision>
  <dcterms:created xsi:type="dcterms:W3CDTF">2023-05-16T04:07:44Z</dcterms:created>
  <dcterms:modified xsi:type="dcterms:W3CDTF">2023-05-23T06:38:14Z</dcterms:modified>
</cp:coreProperties>
</file>